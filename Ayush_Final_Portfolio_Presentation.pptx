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3"/>
    <p:sldId id="257" r:id="rId4"/>
    <p:sldId id="267" r:id="rId5"/>
    <p:sldId id="266" r:id="rId6"/>
    <p:sldId id="265" r:id="rId7"/>
    <p:sldId id="264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2"/>
    <p:restoredTop sz="94628"/>
  </p:normalViewPr>
  <p:slideViewPr>
    <p:cSldViewPr snapToGrid="0" snapToObjects="1">
      <p:cViewPr varScale="1">
        <p:scale>
          <a:sx n="114" d="100"/>
          <a:sy n="114" d="100"/>
        </p:scale>
        <p:origin x="45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D9BDF4-4CC3-4A33-9C7C-1AC7BE6E9EA3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247B1EBD-207D-4AC1-B10E-CD9AEA325821}">
      <dgm:prSet/>
      <dgm:spPr>
        <a:solidFill>
          <a:schemeClr val="tx2"/>
        </a:solidFill>
      </dgm:spPr>
      <dgm:t>
        <a:bodyPr/>
        <a:lstStyle/>
        <a:p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Contents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3966E41-8121-43FA-AB09-238C024F6F65}" type="parTrans" cxnId="{397661A2-0358-4FDD-BCBA-D02BF4128F85}">
      <dgm:prSet/>
      <dgm:spPr/>
      <dgm:t>
        <a:bodyPr/>
        <a:lstStyle/>
        <a:p>
          <a:endParaRPr lang="en-US"/>
        </a:p>
      </dgm:t>
    </dgm:pt>
    <dgm:pt modelId="{0E38E69B-D17B-4183-9340-5800ABEB583F}" type="sibTrans" cxnId="{397661A2-0358-4FDD-BCBA-D02BF4128F85}">
      <dgm:prSet/>
      <dgm:spPr/>
      <dgm:t>
        <a:bodyPr/>
        <a:lstStyle/>
        <a:p>
          <a:endParaRPr lang="en-US"/>
        </a:p>
      </dgm:t>
    </dgm:pt>
    <dgm:pt modelId="{F0365FEA-ECE8-48A3-A7D3-4D14CF46E538}">
      <dgm:prSet/>
      <dgm:spPr>
        <a:ln>
          <a:solidFill>
            <a:schemeClr val="accent1"/>
          </a:solidFill>
        </a:ln>
      </dgm:spPr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Introduction</a:t>
          </a:r>
        </a:p>
      </dgm:t>
    </dgm:pt>
    <dgm:pt modelId="{EA46A487-02DA-4240-B3E4-7158B7B6EF92}" type="parTrans" cxnId="{1F0AB7D0-89E1-42F1-B0F5-6C5594B38D56}">
      <dgm:prSet/>
      <dgm:spPr/>
      <dgm:t>
        <a:bodyPr/>
        <a:lstStyle/>
        <a:p>
          <a:endParaRPr lang="en-US"/>
        </a:p>
      </dgm:t>
    </dgm:pt>
    <dgm:pt modelId="{41C537E0-1424-4291-9D67-07FB4EBE1CC3}" type="sibTrans" cxnId="{1F0AB7D0-89E1-42F1-B0F5-6C5594B38D56}">
      <dgm:prSet/>
      <dgm:spPr/>
      <dgm:t>
        <a:bodyPr/>
        <a:lstStyle/>
        <a:p>
          <a:endParaRPr lang="en-US"/>
        </a:p>
      </dgm:t>
    </dgm:pt>
    <dgm:pt modelId="{5DE1EC20-9977-48E9-9144-881B1D48E505}">
      <dgm:prSet/>
      <dgm:spPr>
        <a:ln>
          <a:solidFill>
            <a:schemeClr val="accent1"/>
          </a:solidFill>
        </a:ln>
      </dgm:spPr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Portfolio Outlook</a:t>
          </a:r>
        </a:p>
      </dgm:t>
    </dgm:pt>
    <dgm:pt modelId="{F4265CE6-E885-4732-8D92-D651E500B09D}" type="parTrans" cxnId="{D6D491B7-5B50-4BDC-B7EF-25D201497A25}">
      <dgm:prSet/>
      <dgm:spPr/>
      <dgm:t>
        <a:bodyPr/>
        <a:lstStyle/>
        <a:p>
          <a:endParaRPr lang="en-US"/>
        </a:p>
      </dgm:t>
    </dgm:pt>
    <dgm:pt modelId="{AD22C739-6443-4CED-9116-5E38668881EC}" type="sibTrans" cxnId="{D6D491B7-5B50-4BDC-B7EF-25D201497A25}">
      <dgm:prSet/>
      <dgm:spPr/>
      <dgm:t>
        <a:bodyPr/>
        <a:lstStyle/>
        <a:p>
          <a:endParaRPr lang="en-US"/>
        </a:p>
      </dgm:t>
    </dgm:pt>
    <dgm:pt modelId="{6A2A7840-3153-4416-BA66-5F05779A369F}">
      <dgm:prSet/>
      <dgm:spPr>
        <a:ln>
          <a:solidFill>
            <a:schemeClr val="accent1"/>
          </a:solidFill>
        </a:ln>
      </dgm:spPr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Folder Structure</a:t>
          </a:r>
        </a:p>
      </dgm:t>
    </dgm:pt>
    <dgm:pt modelId="{7EDEBF1E-8937-4C2D-9D43-C3FA2D6EE1B7}" type="parTrans" cxnId="{0228E7C1-FCB7-46FC-9092-C0F71A8480E8}">
      <dgm:prSet/>
      <dgm:spPr/>
      <dgm:t>
        <a:bodyPr/>
        <a:lstStyle/>
        <a:p>
          <a:endParaRPr lang="en-US"/>
        </a:p>
      </dgm:t>
    </dgm:pt>
    <dgm:pt modelId="{6CE85341-BFE5-4934-B34C-D97B3E518500}" type="sibTrans" cxnId="{0228E7C1-FCB7-46FC-9092-C0F71A8480E8}">
      <dgm:prSet/>
      <dgm:spPr/>
      <dgm:t>
        <a:bodyPr/>
        <a:lstStyle/>
        <a:p>
          <a:endParaRPr lang="en-US"/>
        </a:p>
      </dgm:t>
    </dgm:pt>
    <dgm:pt modelId="{129D0D6D-0109-4444-8147-5B6077DD4B9F}">
      <dgm:prSet/>
      <dgm:spPr>
        <a:ln>
          <a:solidFill>
            <a:schemeClr val="accent1"/>
          </a:solidFill>
        </a:ln>
      </dgm:spPr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Education</a:t>
          </a:r>
        </a:p>
      </dgm:t>
    </dgm:pt>
    <dgm:pt modelId="{B7EE0AC4-1028-4375-AEE8-5D27197BBCEA}" type="parTrans" cxnId="{CB49B10D-05FE-4878-BBF4-14972C1348A1}">
      <dgm:prSet/>
      <dgm:spPr/>
      <dgm:t>
        <a:bodyPr/>
        <a:lstStyle/>
        <a:p>
          <a:endParaRPr lang="en-US"/>
        </a:p>
      </dgm:t>
    </dgm:pt>
    <dgm:pt modelId="{D996DA46-DA4F-427D-9368-D73CE04DBC3A}" type="sibTrans" cxnId="{CB49B10D-05FE-4878-BBF4-14972C1348A1}">
      <dgm:prSet/>
      <dgm:spPr/>
      <dgm:t>
        <a:bodyPr/>
        <a:lstStyle/>
        <a:p>
          <a:endParaRPr lang="en-US"/>
        </a:p>
      </dgm:t>
    </dgm:pt>
    <dgm:pt modelId="{0A9E6A0D-510A-4136-A58D-D056AB2964B4}">
      <dgm:prSet/>
      <dgm:spPr>
        <a:ln>
          <a:solidFill>
            <a:schemeClr val="accent1"/>
          </a:solidFill>
        </a:ln>
      </dgm:spPr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Professional Experience</a:t>
          </a:r>
        </a:p>
      </dgm:t>
    </dgm:pt>
    <dgm:pt modelId="{043E8044-7011-4C74-AA7E-B32CF8090EB8}" type="parTrans" cxnId="{D07802DF-AC69-4E72-88CF-D1A5A1AD7704}">
      <dgm:prSet/>
      <dgm:spPr/>
      <dgm:t>
        <a:bodyPr/>
        <a:lstStyle/>
        <a:p>
          <a:endParaRPr lang="en-US"/>
        </a:p>
      </dgm:t>
    </dgm:pt>
    <dgm:pt modelId="{61749480-F0DE-402D-9401-E25F55CF1E21}" type="sibTrans" cxnId="{D07802DF-AC69-4E72-88CF-D1A5A1AD7704}">
      <dgm:prSet/>
      <dgm:spPr/>
      <dgm:t>
        <a:bodyPr/>
        <a:lstStyle/>
        <a:p>
          <a:endParaRPr lang="en-US"/>
        </a:p>
      </dgm:t>
    </dgm:pt>
    <dgm:pt modelId="{55635ED8-1426-4ECD-BA07-431B883D08A5}">
      <dgm:prSet/>
      <dgm:spPr>
        <a:ln>
          <a:solidFill>
            <a:schemeClr val="accent1"/>
          </a:solidFill>
        </a:ln>
      </dgm:spPr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Projects</a:t>
          </a:r>
        </a:p>
      </dgm:t>
    </dgm:pt>
    <dgm:pt modelId="{90DC6784-FE98-46AF-9A65-E419337AB8C8}" type="parTrans" cxnId="{750293F5-F08E-4C02-9515-41BDAA421475}">
      <dgm:prSet/>
      <dgm:spPr/>
      <dgm:t>
        <a:bodyPr/>
        <a:lstStyle/>
        <a:p>
          <a:endParaRPr lang="en-US"/>
        </a:p>
      </dgm:t>
    </dgm:pt>
    <dgm:pt modelId="{A7ED117F-A38D-43F7-9B1A-B2EFB98FB4B1}" type="sibTrans" cxnId="{750293F5-F08E-4C02-9515-41BDAA421475}">
      <dgm:prSet/>
      <dgm:spPr/>
      <dgm:t>
        <a:bodyPr/>
        <a:lstStyle/>
        <a:p>
          <a:endParaRPr lang="en-US"/>
        </a:p>
      </dgm:t>
    </dgm:pt>
    <dgm:pt modelId="{691A18E0-0588-4C4E-8816-09D93E5C7CAB}">
      <dgm:prSet/>
      <dgm:spPr>
        <a:ln>
          <a:solidFill>
            <a:schemeClr val="accent1"/>
          </a:solidFill>
        </a:ln>
      </dgm:spPr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Cloud Management – IST 615</a:t>
          </a:r>
        </a:p>
      </dgm:t>
    </dgm:pt>
    <dgm:pt modelId="{1587797C-130B-42FA-904B-9629D5E2360F}" type="parTrans" cxnId="{F77050F6-C255-458A-807B-8F7178F48547}">
      <dgm:prSet/>
      <dgm:spPr/>
      <dgm:t>
        <a:bodyPr/>
        <a:lstStyle/>
        <a:p>
          <a:endParaRPr lang="en-US"/>
        </a:p>
      </dgm:t>
    </dgm:pt>
    <dgm:pt modelId="{78321E3A-5BE2-4F04-9151-64D131B47F52}" type="sibTrans" cxnId="{F77050F6-C255-458A-807B-8F7178F48547}">
      <dgm:prSet/>
      <dgm:spPr/>
      <dgm:t>
        <a:bodyPr/>
        <a:lstStyle/>
        <a:p>
          <a:endParaRPr lang="en-US"/>
        </a:p>
      </dgm:t>
    </dgm:pt>
    <dgm:pt modelId="{F95F00B0-A6B1-427B-86F9-9B09A2D28FD3}">
      <dgm:prSet/>
      <dgm:spPr>
        <a:ln>
          <a:solidFill>
            <a:schemeClr val="accent1"/>
          </a:solidFill>
        </a:ln>
      </dgm:spPr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Data Warehouse – IST 722</a:t>
          </a:r>
        </a:p>
      </dgm:t>
    </dgm:pt>
    <dgm:pt modelId="{C49BC590-FD4A-45BD-A5D0-E9C3B00FEA98}" type="parTrans" cxnId="{8A019092-1871-4A4F-A349-FD3D16DA1FC8}">
      <dgm:prSet/>
      <dgm:spPr/>
      <dgm:t>
        <a:bodyPr/>
        <a:lstStyle/>
        <a:p>
          <a:endParaRPr lang="en-US"/>
        </a:p>
      </dgm:t>
    </dgm:pt>
    <dgm:pt modelId="{595A7012-8B99-40BD-B47D-881038E36A3F}" type="sibTrans" cxnId="{8A019092-1871-4A4F-A349-FD3D16DA1FC8}">
      <dgm:prSet/>
      <dgm:spPr/>
      <dgm:t>
        <a:bodyPr/>
        <a:lstStyle/>
        <a:p>
          <a:endParaRPr lang="en-US"/>
        </a:p>
      </dgm:t>
    </dgm:pt>
    <dgm:pt modelId="{221A0114-B87B-4207-B9E7-8B3F932115DF}">
      <dgm:prSet/>
      <dgm:spPr>
        <a:ln>
          <a:solidFill>
            <a:schemeClr val="accent1"/>
          </a:solidFill>
        </a:ln>
      </dgm:spPr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DBMS – IST 659</a:t>
          </a:r>
        </a:p>
      </dgm:t>
    </dgm:pt>
    <dgm:pt modelId="{E4008C21-7F9B-4DE1-B667-1D6722D37A89}" type="parTrans" cxnId="{FBC2F594-4957-4245-B7DB-B81F630F5918}">
      <dgm:prSet/>
      <dgm:spPr/>
      <dgm:t>
        <a:bodyPr/>
        <a:lstStyle/>
        <a:p>
          <a:endParaRPr lang="en-US"/>
        </a:p>
      </dgm:t>
    </dgm:pt>
    <dgm:pt modelId="{7C3809AE-36A6-4AFD-A8A0-47332EFEB43F}" type="sibTrans" cxnId="{FBC2F594-4957-4245-B7DB-B81F630F5918}">
      <dgm:prSet/>
      <dgm:spPr/>
      <dgm:t>
        <a:bodyPr/>
        <a:lstStyle/>
        <a:p>
          <a:endParaRPr lang="en-US"/>
        </a:p>
      </dgm:t>
    </dgm:pt>
    <dgm:pt modelId="{C0BC0E77-DC4B-4062-84EB-B4CF1534E32F}">
      <dgm:prSet/>
      <dgm:spPr>
        <a:ln>
          <a:solidFill>
            <a:schemeClr val="accent1"/>
          </a:solidFill>
        </a:ln>
      </dgm:spPr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Introduction to DS – IST687</a:t>
          </a:r>
        </a:p>
      </dgm:t>
    </dgm:pt>
    <dgm:pt modelId="{62717260-49C3-4517-8A01-46D15BB792D8}" type="parTrans" cxnId="{47B59402-4E56-437F-86A0-CDC2F5237C5E}">
      <dgm:prSet/>
      <dgm:spPr/>
      <dgm:t>
        <a:bodyPr/>
        <a:lstStyle/>
        <a:p>
          <a:endParaRPr lang="en-US"/>
        </a:p>
      </dgm:t>
    </dgm:pt>
    <dgm:pt modelId="{C698768C-7D78-4F1B-B39A-17CDFD7B4F86}" type="sibTrans" cxnId="{47B59402-4E56-437F-86A0-CDC2F5237C5E}">
      <dgm:prSet/>
      <dgm:spPr/>
      <dgm:t>
        <a:bodyPr/>
        <a:lstStyle/>
        <a:p>
          <a:endParaRPr lang="en-US"/>
        </a:p>
      </dgm:t>
    </dgm:pt>
    <dgm:pt modelId="{3D610F38-B98E-488B-8AD7-F6C5A94BE7D5}">
      <dgm:prSet/>
      <dgm:spPr>
        <a:ln>
          <a:solidFill>
            <a:schemeClr val="accent1"/>
          </a:solidFill>
        </a:ln>
      </dgm:spPr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Skills and Certifications</a:t>
          </a:r>
        </a:p>
      </dgm:t>
    </dgm:pt>
    <dgm:pt modelId="{4D755048-87D2-413B-BF0B-25E4A1C76E5E}" type="parTrans" cxnId="{BADE7915-54D2-42F1-85DA-5CE860620A57}">
      <dgm:prSet/>
      <dgm:spPr/>
      <dgm:t>
        <a:bodyPr/>
        <a:lstStyle/>
        <a:p>
          <a:endParaRPr lang="en-US"/>
        </a:p>
      </dgm:t>
    </dgm:pt>
    <dgm:pt modelId="{DB603058-14DD-4E86-AF12-C6C634386887}" type="sibTrans" cxnId="{BADE7915-54D2-42F1-85DA-5CE860620A57}">
      <dgm:prSet/>
      <dgm:spPr/>
      <dgm:t>
        <a:bodyPr/>
        <a:lstStyle/>
        <a:p>
          <a:endParaRPr lang="en-US"/>
        </a:p>
      </dgm:t>
    </dgm:pt>
    <dgm:pt modelId="{E6913FB9-6B1C-4432-ADD4-22E1D903F0A9}">
      <dgm:prSet/>
      <dgm:spPr>
        <a:ln>
          <a:solidFill>
            <a:schemeClr val="accent1"/>
          </a:solidFill>
        </a:ln>
      </dgm:spPr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Conclusion</a:t>
          </a:r>
        </a:p>
      </dgm:t>
    </dgm:pt>
    <dgm:pt modelId="{97674A9A-3717-4BA9-8172-DCC6038A2FD1}" type="parTrans" cxnId="{5A1742DB-EB52-4798-9DBD-36130066E234}">
      <dgm:prSet/>
      <dgm:spPr/>
      <dgm:t>
        <a:bodyPr/>
        <a:lstStyle/>
        <a:p>
          <a:endParaRPr lang="en-US"/>
        </a:p>
      </dgm:t>
    </dgm:pt>
    <dgm:pt modelId="{71716103-C754-4B3D-A8B3-4C68554FE27B}" type="sibTrans" cxnId="{5A1742DB-EB52-4798-9DBD-36130066E234}">
      <dgm:prSet/>
      <dgm:spPr/>
      <dgm:t>
        <a:bodyPr/>
        <a:lstStyle/>
        <a:p>
          <a:endParaRPr lang="en-US"/>
        </a:p>
      </dgm:t>
    </dgm:pt>
    <dgm:pt modelId="{936BDEEB-1B2E-3A45-8583-FAEABFE5A73C}" type="pres">
      <dgm:prSet presAssocID="{2AD9BDF4-4CC3-4A33-9C7C-1AC7BE6E9EA3}" presName="linear" presStyleCnt="0">
        <dgm:presLayoutVars>
          <dgm:dir/>
          <dgm:animLvl val="lvl"/>
          <dgm:resizeHandles val="exact"/>
        </dgm:presLayoutVars>
      </dgm:prSet>
      <dgm:spPr/>
    </dgm:pt>
    <dgm:pt modelId="{998C06A4-5AAB-4B4D-B7C3-75429D5FD595}" type="pres">
      <dgm:prSet presAssocID="{247B1EBD-207D-4AC1-B10E-CD9AEA325821}" presName="parentLin" presStyleCnt="0"/>
      <dgm:spPr/>
    </dgm:pt>
    <dgm:pt modelId="{05999D11-C4C5-CE49-974D-2987670AFA80}" type="pres">
      <dgm:prSet presAssocID="{247B1EBD-207D-4AC1-B10E-CD9AEA325821}" presName="parentLeftMargin" presStyleLbl="node1" presStyleIdx="0" presStyleCnt="1"/>
      <dgm:spPr/>
    </dgm:pt>
    <dgm:pt modelId="{1422E982-F7C3-A04A-AFDD-BD258498F765}" type="pres">
      <dgm:prSet presAssocID="{247B1EBD-207D-4AC1-B10E-CD9AEA325821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7AAA88F5-DAF3-ED4D-B516-39E421F798BA}" type="pres">
      <dgm:prSet presAssocID="{247B1EBD-207D-4AC1-B10E-CD9AEA325821}" presName="negativeSpace" presStyleCnt="0"/>
      <dgm:spPr/>
    </dgm:pt>
    <dgm:pt modelId="{506123F2-0191-7E4D-9491-B143127BDC59}" type="pres">
      <dgm:prSet presAssocID="{247B1EBD-207D-4AC1-B10E-CD9AEA325821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47B59402-4E56-437F-86A0-CDC2F5237C5E}" srcId="{55635ED8-1426-4ECD-BA07-431B883D08A5}" destId="{C0BC0E77-DC4B-4062-84EB-B4CF1534E32F}" srcOrd="3" destOrd="0" parTransId="{62717260-49C3-4517-8A01-46D15BB792D8}" sibTransId="{C698768C-7D78-4F1B-B39A-17CDFD7B4F86}"/>
    <dgm:cxn modelId="{1BD1A209-B724-B04F-B5B0-5788B7D6406C}" type="presOf" srcId="{C0BC0E77-DC4B-4062-84EB-B4CF1534E32F}" destId="{506123F2-0191-7E4D-9491-B143127BDC59}" srcOrd="0" destOrd="9" presId="urn:microsoft.com/office/officeart/2005/8/layout/list1"/>
    <dgm:cxn modelId="{98567B0B-5A96-9B40-A669-E59B622D3325}" type="presOf" srcId="{F0365FEA-ECE8-48A3-A7D3-4D14CF46E538}" destId="{506123F2-0191-7E4D-9491-B143127BDC59}" srcOrd="0" destOrd="0" presId="urn:microsoft.com/office/officeart/2005/8/layout/list1"/>
    <dgm:cxn modelId="{CB49B10D-05FE-4878-BBF4-14972C1348A1}" srcId="{247B1EBD-207D-4AC1-B10E-CD9AEA325821}" destId="{129D0D6D-0109-4444-8147-5B6077DD4B9F}" srcOrd="3" destOrd="0" parTransId="{B7EE0AC4-1028-4375-AEE8-5D27197BBCEA}" sibTransId="{D996DA46-DA4F-427D-9368-D73CE04DBC3A}"/>
    <dgm:cxn modelId="{BADE7915-54D2-42F1-85DA-5CE860620A57}" srcId="{247B1EBD-207D-4AC1-B10E-CD9AEA325821}" destId="{3D610F38-B98E-488B-8AD7-F6C5A94BE7D5}" srcOrd="6" destOrd="0" parTransId="{4D755048-87D2-413B-BF0B-25E4A1C76E5E}" sibTransId="{DB603058-14DD-4E86-AF12-C6C634386887}"/>
    <dgm:cxn modelId="{5E3F823A-97A0-3C4E-AA17-27F78450AF1D}" type="presOf" srcId="{2AD9BDF4-4CC3-4A33-9C7C-1AC7BE6E9EA3}" destId="{936BDEEB-1B2E-3A45-8583-FAEABFE5A73C}" srcOrd="0" destOrd="0" presId="urn:microsoft.com/office/officeart/2005/8/layout/list1"/>
    <dgm:cxn modelId="{4FF1246B-9B6A-234B-B01B-7D6633D1D7A0}" type="presOf" srcId="{129D0D6D-0109-4444-8147-5B6077DD4B9F}" destId="{506123F2-0191-7E4D-9491-B143127BDC59}" srcOrd="0" destOrd="3" presId="urn:microsoft.com/office/officeart/2005/8/layout/list1"/>
    <dgm:cxn modelId="{B39A9671-A772-DE44-9C86-BA842A0068DD}" type="presOf" srcId="{5DE1EC20-9977-48E9-9144-881B1D48E505}" destId="{506123F2-0191-7E4D-9491-B143127BDC59}" srcOrd="0" destOrd="1" presId="urn:microsoft.com/office/officeart/2005/8/layout/list1"/>
    <dgm:cxn modelId="{BD214480-D4CC-B142-BAF0-5609C3D77434}" type="presOf" srcId="{55635ED8-1426-4ECD-BA07-431B883D08A5}" destId="{506123F2-0191-7E4D-9491-B143127BDC59}" srcOrd="0" destOrd="5" presId="urn:microsoft.com/office/officeart/2005/8/layout/list1"/>
    <dgm:cxn modelId="{F60A408F-D321-B943-AA7B-DE435480F5D5}" type="presOf" srcId="{247B1EBD-207D-4AC1-B10E-CD9AEA325821}" destId="{1422E982-F7C3-A04A-AFDD-BD258498F765}" srcOrd="1" destOrd="0" presId="urn:microsoft.com/office/officeart/2005/8/layout/list1"/>
    <dgm:cxn modelId="{4BFDA490-C6C2-2040-B001-159CAEC40192}" type="presOf" srcId="{E6913FB9-6B1C-4432-ADD4-22E1D903F0A9}" destId="{506123F2-0191-7E4D-9491-B143127BDC59}" srcOrd="0" destOrd="11" presId="urn:microsoft.com/office/officeart/2005/8/layout/list1"/>
    <dgm:cxn modelId="{934D4292-5359-1145-8C35-7B7CB576B93F}" type="presOf" srcId="{247B1EBD-207D-4AC1-B10E-CD9AEA325821}" destId="{05999D11-C4C5-CE49-974D-2987670AFA80}" srcOrd="0" destOrd="0" presId="urn:microsoft.com/office/officeart/2005/8/layout/list1"/>
    <dgm:cxn modelId="{8A019092-1871-4A4F-A349-FD3D16DA1FC8}" srcId="{55635ED8-1426-4ECD-BA07-431B883D08A5}" destId="{F95F00B0-A6B1-427B-86F9-9B09A2D28FD3}" srcOrd="1" destOrd="0" parTransId="{C49BC590-FD4A-45BD-A5D0-E9C3B00FEA98}" sibTransId="{595A7012-8B99-40BD-B47D-881038E36A3F}"/>
    <dgm:cxn modelId="{FBC2F594-4957-4245-B7DB-B81F630F5918}" srcId="{55635ED8-1426-4ECD-BA07-431B883D08A5}" destId="{221A0114-B87B-4207-B9E7-8B3F932115DF}" srcOrd="2" destOrd="0" parTransId="{E4008C21-7F9B-4DE1-B667-1D6722D37A89}" sibTransId="{7C3809AE-36A6-4AFD-A8A0-47332EFEB43F}"/>
    <dgm:cxn modelId="{8057D6A1-B157-B449-8CDC-E678D8BA7936}" type="presOf" srcId="{3D610F38-B98E-488B-8AD7-F6C5A94BE7D5}" destId="{506123F2-0191-7E4D-9491-B143127BDC59}" srcOrd="0" destOrd="10" presId="urn:microsoft.com/office/officeart/2005/8/layout/list1"/>
    <dgm:cxn modelId="{397661A2-0358-4FDD-BCBA-D02BF4128F85}" srcId="{2AD9BDF4-4CC3-4A33-9C7C-1AC7BE6E9EA3}" destId="{247B1EBD-207D-4AC1-B10E-CD9AEA325821}" srcOrd="0" destOrd="0" parTransId="{93966E41-8121-43FA-AB09-238C024F6F65}" sibTransId="{0E38E69B-D17B-4183-9340-5800ABEB583F}"/>
    <dgm:cxn modelId="{A8C505B1-DA60-B64A-9602-3441808E8322}" type="presOf" srcId="{6A2A7840-3153-4416-BA66-5F05779A369F}" destId="{506123F2-0191-7E4D-9491-B143127BDC59}" srcOrd="0" destOrd="2" presId="urn:microsoft.com/office/officeart/2005/8/layout/list1"/>
    <dgm:cxn modelId="{D6D491B7-5B50-4BDC-B7EF-25D201497A25}" srcId="{247B1EBD-207D-4AC1-B10E-CD9AEA325821}" destId="{5DE1EC20-9977-48E9-9144-881B1D48E505}" srcOrd="1" destOrd="0" parTransId="{F4265CE6-E885-4732-8D92-D651E500B09D}" sibTransId="{AD22C739-6443-4CED-9116-5E38668881EC}"/>
    <dgm:cxn modelId="{7A3E44C1-D47C-294E-B060-5AD76E56B0DF}" type="presOf" srcId="{0A9E6A0D-510A-4136-A58D-D056AB2964B4}" destId="{506123F2-0191-7E4D-9491-B143127BDC59}" srcOrd="0" destOrd="4" presId="urn:microsoft.com/office/officeart/2005/8/layout/list1"/>
    <dgm:cxn modelId="{0228E7C1-FCB7-46FC-9092-C0F71A8480E8}" srcId="{247B1EBD-207D-4AC1-B10E-CD9AEA325821}" destId="{6A2A7840-3153-4416-BA66-5F05779A369F}" srcOrd="2" destOrd="0" parTransId="{7EDEBF1E-8937-4C2D-9D43-C3FA2D6EE1B7}" sibTransId="{6CE85341-BFE5-4934-B34C-D97B3E518500}"/>
    <dgm:cxn modelId="{4B6508C7-98C3-A84B-BE4E-634FB9291107}" type="presOf" srcId="{221A0114-B87B-4207-B9E7-8B3F932115DF}" destId="{506123F2-0191-7E4D-9491-B143127BDC59}" srcOrd="0" destOrd="8" presId="urn:microsoft.com/office/officeart/2005/8/layout/list1"/>
    <dgm:cxn modelId="{1F0AB7D0-89E1-42F1-B0F5-6C5594B38D56}" srcId="{247B1EBD-207D-4AC1-B10E-CD9AEA325821}" destId="{F0365FEA-ECE8-48A3-A7D3-4D14CF46E538}" srcOrd="0" destOrd="0" parTransId="{EA46A487-02DA-4240-B3E4-7158B7B6EF92}" sibTransId="{41C537E0-1424-4291-9D67-07FB4EBE1CC3}"/>
    <dgm:cxn modelId="{FD0087DA-F2C1-2E4C-8D0C-78D0C737A223}" type="presOf" srcId="{691A18E0-0588-4C4E-8816-09D93E5C7CAB}" destId="{506123F2-0191-7E4D-9491-B143127BDC59}" srcOrd="0" destOrd="6" presId="urn:microsoft.com/office/officeart/2005/8/layout/list1"/>
    <dgm:cxn modelId="{5A1742DB-EB52-4798-9DBD-36130066E234}" srcId="{247B1EBD-207D-4AC1-B10E-CD9AEA325821}" destId="{E6913FB9-6B1C-4432-ADD4-22E1D903F0A9}" srcOrd="7" destOrd="0" parTransId="{97674A9A-3717-4BA9-8172-DCC6038A2FD1}" sibTransId="{71716103-C754-4B3D-A8B3-4C68554FE27B}"/>
    <dgm:cxn modelId="{D07802DF-AC69-4E72-88CF-D1A5A1AD7704}" srcId="{247B1EBD-207D-4AC1-B10E-CD9AEA325821}" destId="{0A9E6A0D-510A-4136-A58D-D056AB2964B4}" srcOrd="4" destOrd="0" parTransId="{043E8044-7011-4C74-AA7E-B32CF8090EB8}" sibTransId="{61749480-F0DE-402D-9401-E25F55CF1E21}"/>
    <dgm:cxn modelId="{38F1DEF4-F161-D547-8343-9FAEC9835C5B}" type="presOf" srcId="{F95F00B0-A6B1-427B-86F9-9B09A2D28FD3}" destId="{506123F2-0191-7E4D-9491-B143127BDC59}" srcOrd="0" destOrd="7" presId="urn:microsoft.com/office/officeart/2005/8/layout/list1"/>
    <dgm:cxn modelId="{750293F5-F08E-4C02-9515-41BDAA421475}" srcId="{247B1EBD-207D-4AC1-B10E-CD9AEA325821}" destId="{55635ED8-1426-4ECD-BA07-431B883D08A5}" srcOrd="5" destOrd="0" parTransId="{90DC6784-FE98-46AF-9A65-E419337AB8C8}" sibTransId="{A7ED117F-A38D-43F7-9B1A-B2EFB98FB4B1}"/>
    <dgm:cxn modelId="{F77050F6-C255-458A-807B-8F7178F48547}" srcId="{55635ED8-1426-4ECD-BA07-431B883D08A5}" destId="{691A18E0-0588-4C4E-8816-09D93E5C7CAB}" srcOrd="0" destOrd="0" parTransId="{1587797C-130B-42FA-904B-9629D5E2360F}" sibTransId="{78321E3A-5BE2-4F04-9151-64D131B47F52}"/>
    <dgm:cxn modelId="{B9A25895-9947-0A46-86F0-1772AAB428E8}" type="presParOf" srcId="{936BDEEB-1B2E-3A45-8583-FAEABFE5A73C}" destId="{998C06A4-5AAB-4B4D-B7C3-75429D5FD595}" srcOrd="0" destOrd="0" presId="urn:microsoft.com/office/officeart/2005/8/layout/list1"/>
    <dgm:cxn modelId="{FB8941F4-6842-8544-AABF-0F2514C7A88C}" type="presParOf" srcId="{998C06A4-5AAB-4B4D-B7C3-75429D5FD595}" destId="{05999D11-C4C5-CE49-974D-2987670AFA80}" srcOrd="0" destOrd="0" presId="urn:microsoft.com/office/officeart/2005/8/layout/list1"/>
    <dgm:cxn modelId="{DAC2C410-33C9-DE40-AC24-470AE5922852}" type="presParOf" srcId="{998C06A4-5AAB-4B4D-B7C3-75429D5FD595}" destId="{1422E982-F7C3-A04A-AFDD-BD258498F765}" srcOrd="1" destOrd="0" presId="urn:microsoft.com/office/officeart/2005/8/layout/list1"/>
    <dgm:cxn modelId="{67624593-7EE8-5A42-BAD8-9886E2D0B9AB}" type="presParOf" srcId="{936BDEEB-1B2E-3A45-8583-FAEABFE5A73C}" destId="{7AAA88F5-DAF3-ED4D-B516-39E421F798BA}" srcOrd="1" destOrd="0" presId="urn:microsoft.com/office/officeart/2005/8/layout/list1"/>
    <dgm:cxn modelId="{F113B1E6-1DB6-CD4B-8F43-985BDADCDBCD}" type="presParOf" srcId="{936BDEEB-1B2E-3A45-8583-FAEABFE5A73C}" destId="{506123F2-0191-7E4D-9491-B143127BDC59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5BCF3BE-4268-4277-84F7-C9B582035CA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894257A-8F33-4F3D-861E-B4D743E9677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Graduate student at Syracuse University with 4.5+ years of experience</a:t>
          </a:r>
        </a:p>
      </dgm:t>
    </dgm:pt>
    <dgm:pt modelId="{DD44C705-CC87-42FA-8CF1-45AFB8A682B9}" type="parTrans" cxnId="{EB495299-B6B9-49FC-B994-438E5AD6218F}">
      <dgm:prSet/>
      <dgm:spPr/>
      <dgm:t>
        <a:bodyPr/>
        <a:lstStyle/>
        <a:p>
          <a:endParaRPr lang="en-US"/>
        </a:p>
      </dgm:t>
    </dgm:pt>
    <dgm:pt modelId="{78405F84-A878-4DF5-94EA-687B556E9102}" type="sibTrans" cxnId="{EB495299-B6B9-49FC-B994-438E5AD6218F}">
      <dgm:prSet/>
      <dgm:spPr/>
      <dgm:t>
        <a:bodyPr/>
        <a:lstStyle/>
        <a:p>
          <a:endParaRPr lang="en-US"/>
        </a:p>
      </dgm:t>
    </dgm:pt>
    <dgm:pt modelId="{78F561B1-5BCC-433A-9FA4-FB488F9F0C4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Skilled in data engineering, cloud platforms, and business intelligence</a:t>
          </a:r>
        </a:p>
      </dgm:t>
    </dgm:pt>
    <dgm:pt modelId="{CEBDD348-D8E3-4F44-9D9D-A8F87DE4EDC2}" type="parTrans" cxnId="{84BF55A6-4B9C-4DB4-AEAD-93CCC85F59AE}">
      <dgm:prSet/>
      <dgm:spPr/>
      <dgm:t>
        <a:bodyPr/>
        <a:lstStyle/>
        <a:p>
          <a:endParaRPr lang="en-US"/>
        </a:p>
      </dgm:t>
    </dgm:pt>
    <dgm:pt modelId="{0286C8B4-5CA5-433E-B394-ADC979902AA2}" type="sibTrans" cxnId="{84BF55A6-4B9C-4DB4-AEAD-93CCC85F59AE}">
      <dgm:prSet/>
      <dgm:spPr/>
      <dgm:t>
        <a:bodyPr/>
        <a:lstStyle/>
        <a:p>
          <a:endParaRPr lang="en-US"/>
        </a:p>
      </dgm:t>
    </dgm:pt>
    <dgm:pt modelId="{D5C50708-192F-4FDF-B4A1-D6B9D372B94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Passionate about transforming raw data into actionable insights</a:t>
          </a:r>
        </a:p>
      </dgm:t>
    </dgm:pt>
    <dgm:pt modelId="{C439B9B3-D778-476C-859C-AB05249EBBE1}" type="parTrans" cxnId="{744C008A-F31B-4D42-9774-45628C409488}">
      <dgm:prSet/>
      <dgm:spPr/>
      <dgm:t>
        <a:bodyPr/>
        <a:lstStyle/>
        <a:p>
          <a:endParaRPr lang="en-US"/>
        </a:p>
      </dgm:t>
    </dgm:pt>
    <dgm:pt modelId="{DA779BF1-F021-49DD-9AB1-112898A42D0B}" type="sibTrans" cxnId="{744C008A-F31B-4D42-9774-45628C409488}">
      <dgm:prSet/>
      <dgm:spPr/>
      <dgm:t>
        <a:bodyPr/>
        <a:lstStyle/>
        <a:p>
          <a:endParaRPr lang="en-US"/>
        </a:p>
      </dgm:t>
    </dgm:pt>
    <dgm:pt modelId="{6B6524F5-95EE-4152-BB64-BCF5147ABC15}" type="pres">
      <dgm:prSet presAssocID="{55BCF3BE-4268-4277-84F7-C9B582035CA8}" presName="root" presStyleCnt="0">
        <dgm:presLayoutVars>
          <dgm:dir/>
          <dgm:resizeHandles val="exact"/>
        </dgm:presLayoutVars>
      </dgm:prSet>
      <dgm:spPr/>
    </dgm:pt>
    <dgm:pt modelId="{C8ADE9D0-48AD-4CEE-8139-33031BBB6103}" type="pres">
      <dgm:prSet presAssocID="{5894257A-8F33-4F3D-861E-B4D743E96770}" presName="compNode" presStyleCnt="0"/>
      <dgm:spPr/>
    </dgm:pt>
    <dgm:pt modelId="{4317F9F8-BB0A-4B0B-A1C5-B42209B9FFCF}" type="pres">
      <dgm:prSet presAssocID="{5894257A-8F33-4F3D-861E-B4D743E96770}" presName="bgRect" presStyleLbl="bgShp" presStyleIdx="0" presStyleCnt="3"/>
      <dgm:spPr/>
    </dgm:pt>
    <dgm:pt modelId="{5627976D-8F1D-4258-B48B-98A255FF8C6E}" type="pres">
      <dgm:prSet presAssocID="{5894257A-8F33-4F3D-861E-B4D743E9677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38F66399-F42C-428F-8171-8A9D737B539C}" type="pres">
      <dgm:prSet presAssocID="{5894257A-8F33-4F3D-861E-B4D743E96770}" presName="spaceRect" presStyleCnt="0"/>
      <dgm:spPr/>
    </dgm:pt>
    <dgm:pt modelId="{8A475CEE-D9A2-4E13-8AE7-1500106B88C1}" type="pres">
      <dgm:prSet presAssocID="{5894257A-8F33-4F3D-861E-B4D743E96770}" presName="parTx" presStyleLbl="revTx" presStyleIdx="0" presStyleCnt="3">
        <dgm:presLayoutVars>
          <dgm:chMax val="0"/>
          <dgm:chPref val="0"/>
        </dgm:presLayoutVars>
      </dgm:prSet>
      <dgm:spPr/>
    </dgm:pt>
    <dgm:pt modelId="{F94C0DBE-C74A-4905-A31E-2B699EF61067}" type="pres">
      <dgm:prSet presAssocID="{78405F84-A878-4DF5-94EA-687B556E9102}" presName="sibTrans" presStyleCnt="0"/>
      <dgm:spPr/>
    </dgm:pt>
    <dgm:pt modelId="{764B4C5A-AF4B-4B44-951D-4F2453E4981E}" type="pres">
      <dgm:prSet presAssocID="{78F561B1-5BCC-433A-9FA4-FB488F9F0C47}" presName="compNode" presStyleCnt="0"/>
      <dgm:spPr/>
    </dgm:pt>
    <dgm:pt modelId="{5E1787BE-5C8C-42E8-B3B1-3E222F4D8BED}" type="pres">
      <dgm:prSet presAssocID="{78F561B1-5BCC-433A-9FA4-FB488F9F0C47}" presName="bgRect" presStyleLbl="bgShp" presStyleIdx="1" presStyleCnt="3"/>
      <dgm:spPr/>
    </dgm:pt>
    <dgm:pt modelId="{133B066A-D2A5-4B7F-94B0-E4E9D5939AD2}" type="pres">
      <dgm:prSet presAssocID="{78F561B1-5BCC-433A-9FA4-FB488F9F0C4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11ED0A16-331D-4FA8-874E-E147E91898AD}" type="pres">
      <dgm:prSet presAssocID="{78F561B1-5BCC-433A-9FA4-FB488F9F0C47}" presName="spaceRect" presStyleCnt="0"/>
      <dgm:spPr/>
    </dgm:pt>
    <dgm:pt modelId="{F6A5726B-8A12-4171-A565-24BF483873F9}" type="pres">
      <dgm:prSet presAssocID="{78F561B1-5BCC-433A-9FA4-FB488F9F0C47}" presName="parTx" presStyleLbl="revTx" presStyleIdx="1" presStyleCnt="3">
        <dgm:presLayoutVars>
          <dgm:chMax val="0"/>
          <dgm:chPref val="0"/>
        </dgm:presLayoutVars>
      </dgm:prSet>
      <dgm:spPr/>
    </dgm:pt>
    <dgm:pt modelId="{333B9BBD-2B75-4CCE-99CA-05468F614F56}" type="pres">
      <dgm:prSet presAssocID="{0286C8B4-5CA5-433E-B394-ADC979902AA2}" presName="sibTrans" presStyleCnt="0"/>
      <dgm:spPr/>
    </dgm:pt>
    <dgm:pt modelId="{B85FD974-D6F1-47C3-9968-545797595A7E}" type="pres">
      <dgm:prSet presAssocID="{D5C50708-192F-4FDF-B4A1-D6B9D372B944}" presName="compNode" presStyleCnt="0"/>
      <dgm:spPr/>
    </dgm:pt>
    <dgm:pt modelId="{230CB8DA-CC83-4C70-863F-34FBFA6A32B0}" type="pres">
      <dgm:prSet presAssocID="{D5C50708-192F-4FDF-B4A1-D6B9D372B944}" presName="bgRect" presStyleLbl="bgShp" presStyleIdx="2" presStyleCnt="3"/>
      <dgm:spPr/>
    </dgm:pt>
    <dgm:pt modelId="{AA68DD31-DD66-4C46-A174-7F95DBCD5348}" type="pres">
      <dgm:prSet presAssocID="{D5C50708-192F-4FDF-B4A1-D6B9D372B94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AB8ED6DF-3C27-41D8-A3B8-D3D0E8E8879D}" type="pres">
      <dgm:prSet presAssocID="{D5C50708-192F-4FDF-B4A1-D6B9D372B944}" presName="spaceRect" presStyleCnt="0"/>
      <dgm:spPr/>
    </dgm:pt>
    <dgm:pt modelId="{FEB1ADD7-23D2-4037-9F11-A6F74A51F9A6}" type="pres">
      <dgm:prSet presAssocID="{D5C50708-192F-4FDF-B4A1-D6B9D372B94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860F75F-3F33-4A44-A58E-89BBAC77091F}" type="presOf" srcId="{55BCF3BE-4268-4277-84F7-C9B582035CA8}" destId="{6B6524F5-95EE-4152-BB64-BCF5147ABC15}" srcOrd="0" destOrd="0" presId="urn:microsoft.com/office/officeart/2018/2/layout/IconVerticalSolidList"/>
    <dgm:cxn modelId="{1999C972-83B6-4740-8C9E-4D84C77535E3}" type="presOf" srcId="{D5C50708-192F-4FDF-B4A1-D6B9D372B944}" destId="{FEB1ADD7-23D2-4037-9F11-A6F74A51F9A6}" srcOrd="0" destOrd="0" presId="urn:microsoft.com/office/officeart/2018/2/layout/IconVerticalSolidList"/>
    <dgm:cxn modelId="{35BC7D86-56FC-4C0F-B8F3-679A0935A5E7}" type="presOf" srcId="{78F561B1-5BCC-433A-9FA4-FB488F9F0C47}" destId="{F6A5726B-8A12-4171-A565-24BF483873F9}" srcOrd="0" destOrd="0" presId="urn:microsoft.com/office/officeart/2018/2/layout/IconVerticalSolidList"/>
    <dgm:cxn modelId="{744C008A-F31B-4D42-9774-45628C409488}" srcId="{55BCF3BE-4268-4277-84F7-C9B582035CA8}" destId="{D5C50708-192F-4FDF-B4A1-D6B9D372B944}" srcOrd="2" destOrd="0" parTransId="{C439B9B3-D778-476C-859C-AB05249EBBE1}" sibTransId="{DA779BF1-F021-49DD-9AB1-112898A42D0B}"/>
    <dgm:cxn modelId="{EB495299-B6B9-49FC-B994-438E5AD6218F}" srcId="{55BCF3BE-4268-4277-84F7-C9B582035CA8}" destId="{5894257A-8F33-4F3D-861E-B4D743E96770}" srcOrd="0" destOrd="0" parTransId="{DD44C705-CC87-42FA-8CF1-45AFB8A682B9}" sibTransId="{78405F84-A878-4DF5-94EA-687B556E9102}"/>
    <dgm:cxn modelId="{84BF55A6-4B9C-4DB4-AEAD-93CCC85F59AE}" srcId="{55BCF3BE-4268-4277-84F7-C9B582035CA8}" destId="{78F561B1-5BCC-433A-9FA4-FB488F9F0C47}" srcOrd="1" destOrd="0" parTransId="{CEBDD348-D8E3-4F44-9D9D-A8F87DE4EDC2}" sibTransId="{0286C8B4-5CA5-433E-B394-ADC979902AA2}"/>
    <dgm:cxn modelId="{95AF34D3-0BBA-4868-91AA-0C8ED4AC5B70}" type="presOf" srcId="{5894257A-8F33-4F3D-861E-B4D743E96770}" destId="{8A475CEE-D9A2-4E13-8AE7-1500106B88C1}" srcOrd="0" destOrd="0" presId="urn:microsoft.com/office/officeart/2018/2/layout/IconVerticalSolidList"/>
    <dgm:cxn modelId="{1041D6A7-91A1-45E4-8782-6CE108FF8122}" type="presParOf" srcId="{6B6524F5-95EE-4152-BB64-BCF5147ABC15}" destId="{C8ADE9D0-48AD-4CEE-8139-33031BBB6103}" srcOrd="0" destOrd="0" presId="urn:microsoft.com/office/officeart/2018/2/layout/IconVerticalSolidList"/>
    <dgm:cxn modelId="{0C7831E8-B0C9-4B49-92F9-DB1F710F1A0A}" type="presParOf" srcId="{C8ADE9D0-48AD-4CEE-8139-33031BBB6103}" destId="{4317F9F8-BB0A-4B0B-A1C5-B42209B9FFCF}" srcOrd="0" destOrd="0" presId="urn:microsoft.com/office/officeart/2018/2/layout/IconVerticalSolidList"/>
    <dgm:cxn modelId="{40A6CCB1-DC42-4946-B7C3-A6CF238353F4}" type="presParOf" srcId="{C8ADE9D0-48AD-4CEE-8139-33031BBB6103}" destId="{5627976D-8F1D-4258-B48B-98A255FF8C6E}" srcOrd="1" destOrd="0" presId="urn:microsoft.com/office/officeart/2018/2/layout/IconVerticalSolidList"/>
    <dgm:cxn modelId="{A92FD2BF-A02C-416D-98BF-7BDB08B334CF}" type="presParOf" srcId="{C8ADE9D0-48AD-4CEE-8139-33031BBB6103}" destId="{38F66399-F42C-428F-8171-8A9D737B539C}" srcOrd="2" destOrd="0" presId="urn:microsoft.com/office/officeart/2018/2/layout/IconVerticalSolidList"/>
    <dgm:cxn modelId="{8EE1DE25-8D06-4F7A-99A3-75E979F26EFB}" type="presParOf" srcId="{C8ADE9D0-48AD-4CEE-8139-33031BBB6103}" destId="{8A475CEE-D9A2-4E13-8AE7-1500106B88C1}" srcOrd="3" destOrd="0" presId="urn:microsoft.com/office/officeart/2018/2/layout/IconVerticalSolidList"/>
    <dgm:cxn modelId="{CA1B0ECB-A8C0-44A3-BBBF-B38DB27AD5B4}" type="presParOf" srcId="{6B6524F5-95EE-4152-BB64-BCF5147ABC15}" destId="{F94C0DBE-C74A-4905-A31E-2B699EF61067}" srcOrd="1" destOrd="0" presId="urn:microsoft.com/office/officeart/2018/2/layout/IconVerticalSolidList"/>
    <dgm:cxn modelId="{16A2B51D-9CF7-44CF-8B42-C29EB2D5F137}" type="presParOf" srcId="{6B6524F5-95EE-4152-BB64-BCF5147ABC15}" destId="{764B4C5A-AF4B-4B44-951D-4F2453E4981E}" srcOrd="2" destOrd="0" presId="urn:microsoft.com/office/officeart/2018/2/layout/IconVerticalSolidList"/>
    <dgm:cxn modelId="{9E85B907-304E-40C2-8BF2-8D067B662F55}" type="presParOf" srcId="{764B4C5A-AF4B-4B44-951D-4F2453E4981E}" destId="{5E1787BE-5C8C-42E8-B3B1-3E222F4D8BED}" srcOrd="0" destOrd="0" presId="urn:microsoft.com/office/officeart/2018/2/layout/IconVerticalSolidList"/>
    <dgm:cxn modelId="{51494302-49AC-4515-B86C-660C6CDF3E6C}" type="presParOf" srcId="{764B4C5A-AF4B-4B44-951D-4F2453E4981E}" destId="{133B066A-D2A5-4B7F-94B0-E4E9D5939AD2}" srcOrd="1" destOrd="0" presId="urn:microsoft.com/office/officeart/2018/2/layout/IconVerticalSolidList"/>
    <dgm:cxn modelId="{70030920-6303-4908-8614-5B98EC379C23}" type="presParOf" srcId="{764B4C5A-AF4B-4B44-951D-4F2453E4981E}" destId="{11ED0A16-331D-4FA8-874E-E147E91898AD}" srcOrd="2" destOrd="0" presId="urn:microsoft.com/office/officeart/2018/2/layout/IconVerticalSolidList"/>
    <dgm:cxn modelId="{EDB39D22-9677-4FF1-9DE4-6BD92B12A11C}" type="presParOf" srcId="{764B4C5A-AF4B-4B44-951D-4F2453E4981E}" destId="{F6A5726B-8A12-4171-A565-24BF483873F9}" srcOrd="3" destOrd="0" presId="urn:microsoft.com/office/officeart/2018/2/layout/IconVerticalSolidList"/>
    <dgm:cxn modelId="{20B7156A-3B5A-4970-BC13-99531354023E}" type="presParOf" srcId="{6B6524F5-95EE-4152-BB64-BCF5147ABC15}" destId="{333B9BBD-2B75-4CCE-99CA-05468F614F56}" srcOrd="3" destOrd="0" presId="urn:microsoft.com/office/officeart/2018/2/layout/IconVerticalSolidList"/>
    <dgm:cxn modelId="{8E081AA1-5343-4B74-AC50-4860542F013F}" type="presParOf" srcId="{6B6524F5-95EE-4152-BB64-BCF5147ABC15}" destId="{B85FD974-D6F1-47C3-9968-545797595A7E}" srcOrd="4" destOrd="0" presId="urn:microsoft.com/office/officeart/2018/2/layout/IconVerticalSolidList"/>
    <dgm:cxn modelId="{859B3807-666B-45DC-A02C-BF66F769B694}" type="presParOf" srcId="{B85FD974-D6F1-47C3-9968-545797595A7E}" destId="{230CB8DA-CC83-4C70-863F-34FBFA6A32B0}" srcOrd="0" destOrd="0" presId="urn:microsoft.com/office/officeart/2018/2/layout/IconVerticalSolidList"/>
    <dgm:cxn modelId="{2CFA370E-A7DA-45D8-A33B-B9CF8EFC7961}" type="presParOf" srcId="{B85FD974-D6F1-47C3-9968-545797595A7E}" destId="{AA68DD31-DD66-4C46-A174-7F95DBCD5348}" srcOrd="1" destOrd="0" presId="urn:microsoft.com/office/officeart/2018/2/layout/IconVerticalSolidList"/>
    <dgm:cxn modelId="{E7CE251C-A8E7-44E1-ADAF-EC3750AFE4BE}" type="presParOf" srcId="{B85FD974-D6F1-47C3-9968-545797595A7E}" destId="{AB8ED6DF-3C27-41D8-A3B8-D3D0E8E8879D}" srcOrd="2" destOrd="0" presId="urn:microsoft.com/office/officeart/2018/2/layout/IconVerticalSolidList"/>
    <dgm:cxn modelId="{D948345C-D1AD-4DF2-BA0D-459690663E61}" type="presParOf" srcId="{B85FD974-D6F1-47C3-9968-545797595A7E}" destId="{FEB1ADD7-23D2-4037-9F11-A6F74A51F9A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3E3377F-058F-475F-9635-38BFE51D71E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FC66C37-0853-44ED-92D0-404EE60A8E7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Developed FEC campaign finance warehouse using Snowflake and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dbt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24BDDB1-7802-4FD9-9C1B-400881963806}" type="parTrans" cxnId="{87DF330F-FB5E-4713-A9EB-805E708EDF2F}">
      <dgm:prSet/>
      <dgm:spPr/>
      <dgm:t>
        <a:bodyPr/>
        <a:lstStyle/>
        <a:p>
          <a:endParaRPr lang="en-US"/>
        </a:p>
      </dgm:t>
    </dgm:pt>
    <dgm:pt modelId="{C2C8225D-71AC-47E5-934F-BD358E802221}" type="sibTrans" cxnId="{87DF330F-FB5E-4713-A9EB-805E708EDF2F}">
      <dgm:prSet/>
      <dgm:spPr/>
      <dgm:t>
        <a:bodyPr/>
        <a:lstStyle/>
        <a:p>
          <a:endParaRPr lang="en-US"/>
        </a:p>
      </dgm:t>
    </dgm:pt>
    <dgm:pt modelId="{380D86BC-9DB4-43BF-AF06-3CF2FBCDD46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Created star schema with contribution/expenditure fact tables</a:t>
          </a:r>
        </a:p>
      </dgm:t>
    </dgm:pt>
    <dgm:pt modelId="{5FDEFB95-1FBA-4EA5-ABE0-9745224CE5BF}" type="parTrans" cxnId="{CAF9D816-8657-461E-9B4B-A18F8270CF7B}">
      <dgm:prSet/>
      <dgm:spPr/>
      <dgm:t>
        <a:bodyPr/>
        <a:lstStyle/>
        <a:p>
          <a:endParaRPr lang="en-US"/>
        </a:p>
      </dgm:t>
    </dgm:pt>
    <dgm:pt modelId="{E830F1BA-0968-48AF-B7EA-EDA276767FFC}" type="sibTrans" cxnId="{CAF9D816-8657-461E-9B4B-A18F8270CF7B}">
      <dgm:prSet/>
      <dgm:spPr/>
      <dgm:t>
        <a:bodyPr/>
        <a:lstStyle/>
        <a:p>
          <a:endParaRPr lang="en-US"/>
        </a:p>
      </dgm:t>
    </dgm:pt>
    <dgm:pt modelId="{1C4B9494-8A34-4E2A-986B-980E4C4E55E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Built Power BI dashboards to visualize trends across demographics</a:t>
          </a:r>
        </a:p>
      </dgm:t>
    </dgm:pt>
    <dgm:pt modelId="{58EE3960-2E24-452A-929B-FB44801EFAE1}" type="parTrans" cxnId="{4E22BB73-6B10-4667-ADFD-05E6EE6FC3EF}">
      <dgm:prSet/>
      <dgm:spPr/>
      <dgm:t>
        <a:bodyPr/>
        <a:lstStyle/>
        <a:p>
          <a:endParaRPr lang="en-US"/>
        </a:p>
      </dgm:t>
    </dgm:pt>
    <dgm:pt modelId="{60CD1801-42EF-4155-AB96-826AC15ABDCA}" type="sibTrans" cxnId="{4E22BB73-6B10-4667-ADFD-05E6EE6FC3EF}">
      <dgm:prSet/>
      <dgm:spPr/>
      <dgm:t>
        <a:bodyPr/>
        <a:lstStyle/>
        <a:p>
          <a:endParaRPr lang="en-US"/>
        </a:p>
      </dgm:t>
    </dgm:pt>
    <dgm:pt modelId="{BEC27105-1AFA-46B1-91AD-17E98AC97A0E}" type="pres">
      <dgm:prSet presAssocID="{73E3377F-058F-475F-9635-38BFE51D71EB}" presName="root" presStyleCnt="0">
        <dgm:presLayoutVars>
          <dgm:dir/>
          <dgm:resizeHandles val="exact"/>
        </dgm:presLayoutVars>
      </dgm:prSet>
      <dgm:spPr/>
    </dgm:pt>
    <dgm:pt modelId="{CFA38D90-D047-40A8-A5FF-864F9C9DE9A2}" type="pres">
      <dgm:prSet presAssocID="{8FC66C37-0853-44ED-92D0-404EE60A8E7C}" presName="compNode" presStyleCnt="0"/>
      <dgm:spPr/>
    </dgm:pt>
    <dgm:pt modelId="{399B7D1F-1248-4671-A962-0D3BC3C62247}" type="pres">
      <dgm:prSet presAssocID="{8FC66C37-0853-44ED-92D0-404EE60A8E7C}" presName="bgRect" presStyleLbl="bgShp" presStyleIdx="0" presStyleCnt="3"/>
      <dgm:spPr/>
    </dgm:pt>
    <dgm:pt modelId="{1C0CBAF3-4644-433E-8948-0EDD1B3E80BB}" type="pres">
      <dgm:prSet presAssocID="{8FC66C37-0853-44ED-92D0-404EE60A8E7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C826712-AF62-4C3A-BF58-577840E1D76A}" type="pres">
      <dgm:prSet presAssocID="{8FC66C37-0853-44ED-92D0-404EE60A8E7C}" presName="spaceRect" presStyleCnt="0"/>
      <dgm:spPr/>
    </dgm:pt>
    <dgm:pt modelId="{606138EE-CC8F-4161-9660-4F4B7077240C}" type="pres">
      <dgm:prSet presAssocID="{8FC66C37-0853-44ED-92D0-404EE60A8E7C}" presName="parTx" presStyleLbl="revTx" presStyleIdx="0" presStyleCnt="3">
        <dgm:presLayoutVars>
          <dgm:chMax val="0"/>
          <dgm:chPref val="0"/>
        </dgm:presLayoutVars>
      </dgm:prSet>
      <dgm:spPr/>
    </dgm:pt>
    <dgm:pt modelId="{672191B7-3126-4372-8353-AB2FB78294C3}" type="pres">
      <dgm:prSet presAssocID="{C2C8225D-71AC-47E5-934F-BD358E802221}" presName="sibTrans" presStyleCnt="0"/>
      <dgm:spPr/>
    </dgm:pt>
    <dgm:pt modelId="{8C4BA545-8AF7-4684-889B-F193D78CC781}" type="pres">
      <dgm:prSet presAssocID="{380D86BC-9DB4-43BF-AF06-3CF2FBCDD46E}" presName="compNode" presStyleCnt="0"/>
      <dgm:spPr/>
    </dgm:pt>
    <dgm:pt modelId="{48AE8DF9-EAA5-48BA-92A4-A11C41B9CB87}" type="pres">
      <dgm:prSet presAssocID="{380D86BC-9DB4-43BF-AF06-3CF2FBCDD46E}" presName="bgRect" presStyleLbl="bgShp" presStyleIdx="1" presStyleCnt="3"/>
      <dgm:spPr/>
    </dgm:pt>
    <dgm:pt modelId="{E9832FDB-9646-498A-A960-8597F65F421E}" type="pres">
      <dgm:prSet presAssocID="{380D86BC-9DB4-43BF-AF06-3CF2FBCDD46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r"/>
        </a:ext>
      </dgm:extLst>
    </dgm:pt>
    <dgm:pt modelId="{D16EE1FA-5000-4179-850E-87B10C470C93}" type="pres">
      <dgm:prSet presAssocID="{380D86BC-9DB4-43BF-AF06-3CF2FBCDD46E}" presName="spaceRect" presStyleCnt="0"/>
      <dgm:spPr/>
    </dgm:pt>
    <dgm:pt modelId="{D30348D6-2351-417C-B016-AE680907F92E}" type="pres">
      <dgm:prSet presAssocID="{380D86BC-9DB4-43BF-AF06-3CF2FBCDD46E}" presName="parTx" presStyleLbl="revTx" presStyleIdx="1" presStyleCnt="3">
        <dgm:presLayoutVars>
          <dgm:chMax val="0"/>
          <dgm:chPref val="0"/>
        </dgm:presLayoutVars>
      </dgm:prSet>
      <dgm:spPr/>
    </dgm:pt>
    <dgm:pt modelId="{D857D766-4EDA-42CC-AAC0-4331946CF90E}" type="pres">
      <dgm:prSet presAssocID="{E830F1BA-0968-48AF-B7EA-EDA276767FFC}" presName="sibTrans" presStyleCnt="0"/>
      <dgm:spPr/>
    </dgm:pt>
    <dgm:pt modelId="{5EF7260D-6E87-4B0F-B9F1-97765DCCE239}" type="pres">
      <dgm:prSet presAssocID="{1C4B9494-8A34-4E2A-986B-980E4C4E55ED}" presName="compNode" presStyleCnt="0"/>
      <dgm:spPr/>
    </dgm:pt>
    <dgm:pt modelId="{E51F4B67-E7BA-4DAA-8268-F3A5AD06EFA3}" type="pres">
      <dgm:prSet presAssocID="{1C4B9494-8A34-4E2A-986B-980E4C4E55ED}" presName="bgRect" presStyleLbl="bgShp" presStyleIdx="2" presStyleCnt="3"/>
      <dgm:spPr/>
    </dgm:pt>
    <dgm:pt modelId="{2C12031D-72CF-4995-BF15-1E2CE43AC633}" type="pres">
      <dgm:prSet presAssocID="{1C4B9494-8A34-4E2A-986B-980E4C4E55E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D72A70A6-7CD6-4427-9985-439B7B342FCA}" type="pres">
      <dgm:prSet presAssocID="{1C4B9494-8A34-4E2A-986B-980E4C4E55ED}" presName="spaceRect" presStyleCnt="0"/>
      <dgm:spPr/>
    </dgm:pt>
    <dgm:pt modelId="{EE881EE6-81CE-4739-9A58-7815C1CA1E6C}" type="pres">
      <dgm:prSet presAssocID="{1C4B9494-8A34-4E2A-986B-980E4C4E55ED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7DF330F-FB5E-4713-A9EB-805E708EDF2F}" srcId="{73E3377F-058F-475F-9635-38BFE51D71EB}" destId="{8FC66C37-0853-44ED-92D0-404EE60A8E7C}" srcOrd="0" destOrd="0" parTransId="{A24BDDB1-7802-4FD9-9C1B-400881963806}" sibTransId="{C2C8225D-71AC-47E5-934F-BD358E802221}"/>
    <dgm:cxn modelId="{E16ADA13-8B7A-354D-B812-69C0CE55445E}" type="presOf" srcId="{8FC66C37-0853-44ED-92D0-404EE60A8E7C}" destId="{606138EE-CC8F-4161-9660-4F4B7077240C}" srcOrd="0" destOrd="0" presId="urn:microsoft.com/office/officeart/2018/2/layout/IconVerticalSolidList"/>
    <dgm:cxn modelId="{CAF9D816-8657-461E-9B4B-A18F8270CF7B}" srcId="{73E3377F-058F-475F-9635-38BFE51D71EB}" destId="{380D86BC-9DB4-43BF-AF06-3CF2FBCDD46E}" srcOrd="1" destOrd="0" parTransId="{5FDEFB95-1FBA-4EA5-ABE0-9745224CE5BF}" sibTransId="{E830F1BA-0968-48AF-B7EA-EDA276767FFC}"/>
    <dgm:cxn modelId="{33F01D19-2C8F-2D48-A1EE-4CE440D97128}" type="presOf" srcId="{380D86BC-9DB4-43BF-AF06-3CF2FBCDD46E}" destId="{D30348D6-2351-417C-B016-AE680907F92E}" srcOrd="0" destOrd="0" presId="urn:microsoft.com/office/officeart/2018/2/layout/IconVerticalSolidList"/>
    <dgm:cxn modelId="{5B35904B-DCF5-6742-B4FF-177C00D45702}" type="presOf" srcId="{1C4B9494-8A34-4E2A-986B-980E4C4E55ED}" destId="{EE881EE6-81CE-4739-9A58-7815C1CA1E6C}" srcOrd="0" destOrd="0" presId="urn:microsoft.com/office/officeart/2018/2/layout/IconVerticalSolidList"/>
    <dgm:cxn modelId="{4E22BB73-6B10-4667-ADFD-05E6EE6FC3EF}" srcId="{73E3377F-058F-475F-9635-38BFE51D71EB}" destId="{1C4B9494-8A34-4E2A-986B-980E4C4E55ED}" srcOrd="2" destOrd="0" parTransId="{58EE3960-2E24-452A-929B-FB44801EFAE1}" sibTransId="{60CD1801-42EF-4155-AB96-826AC15ABDCA}"/>
    <dgm:cxn modelId="{7A406BA8-B38A-3B41-A66E-2F789CE4BB11}" type="presOf" srcId="{73E3377F-058F-475F-9635-38BFE51D71EB}" destId="{BEC27105-1AFA-46B1-91AD-17E98AC97A0E}" srcOrd="0" destOrd="0" presId="urn:microsoft.com/office/officeart/2018/2/layout/IconVerticalSolidList"/>
    <dgm:cxn modelId="{56764914-CEEB-6D4C-9C41-54BF8630C952}" type="presParOf" srcId="{BEC27105-1AFA-46B1-91AD-17E98AC97A0E}" destId="{CFA38D90-D047-40A8-A5FF-864F9C9DE9A2}" srcOrd="0" destOrd="0" presId="urn:microsoft.com/office/officeart/2018/2/layout/IconVerticalSolidList"/>
    <dgm:cxn modelId="{B5E29230-E18D-224A-BB6C-D1551E3FFB64}" type="presParOf" srcId="{CFA38D90-D047-40A8-A5FF-864F9C9DE9A2}" destId="{399B7D1F-1248-4671-A962-0D3BC3C62247}" srcOrd="0" destOrd="0" presId="urn:microsoft.com/office/officeart/2018/2/layout/IconVerticalSolidList"/>
    <dgm:cxn modelId="{4E59A7A2-AFFF-A845-A4A7-F8A747DCFDD0}" type="presParOf" srcId="{CFA38D90-D047-40A8-A5FF-864F9C9DE9A2}" destId="{1C0CBAF3-4644-433E-8948-0EDD1B3E80BB}" srcOrd="1" destOrd="0" presId="urn:microsoft.com/office/officeart/2018/2/layout/IconVerticalSolidList"/>
    <dgm:cxn modelId="{C775F7F5-8A5C-4B4F-8538-129B0EEF2407}" type="presParOf" srcId="{CFA38D90-D047-40A8-A5FF-864F9C9DE9A2}" destId="{6C826712-AF62-4C3A-BF58-577840E1D76A}" srcOrd="2" destOrd="0" presId="urn:microsoft.com/office/officeart/2018/2/layout/IconVerticalSolidList"/>
    <dgm:cxn modelId="{0DB19DFF-906E-6546-AFA4-03C4EB01E07D}" type="presParOf" srcId="{CFA38D90-D047-40A8-A5FF-864F9C9DE9A2}" destId="{606138EE-CC8F-4161-9660-4F4B7077240C}" srcOrd="3" destOrd="0" presId="urn:microsoft.com/office/officeart/2018/2/layout/IconVerticalSolidList"/>
    <dgm:cxn modelId="{E9FBBC08-5566-8747-951F-DE43355DC150}" type="presParOf" srcId="{BEC27105-1AFA-46B1-91AD-17E98AC97A0E}" destId="{672191B7-3126-4372-8353-AB2FB78294C3}" srcOrd="1" destOrd="0" presId="urn:microsoft.com/office/officeart/2018/2/layout/IconVerticalSolidList"/>
    <dgm:cxn modelId="{1428D5E2-7832-FC4F-A752-1EC189343AE0}" type="presParOf" srcId="{BEC27105-1AFA-46B1-91AD-17E98AC97A0E}" destId="{8C4BA545-8AF7-4684-889B-F193D78CC781}" srcOrd="2" destOrd="0" presId="urn:microsoft.com/office/officeart/2018/2/layout/IconVerticalSolidList"/>
    <dgm:cxn modelId="{903FBCA5-941D-8D45-B1FD-E79081A8089A}" type="presParOf" srcId="{8C4BA545-8AF7-4684-889B-F193D78CC781}" destId="{48AE8DF9-EAA5-48BA-92A4-A11C41B9CB87}" srcOrd="0" destOrd="0" presId="urn:microsoft.com/office/officeart/2018/2/layout/IconVerticalSolidList"/>
    <dgm:cxn modelId="{C0574B76-E515-C04A-880D-6EA34F7ECA07}" type="presParOf" srcId="{8C4BA545-8AF7-4684-889B-F193D78CC781}" destId="{E9832FDB-9646-498A-A960-8597F65F421E}" srcOrd="1" destOrd="0" presId="urn:microsoft.com/office/officeart/2018/2/layout/IconVerticalSolidList"/>
    <dgm:cxn modelId="{0E652B74-33B6-5D43-827D-90A1141CFC3A}" type="presParOf" srcId="{8C4BA545-8AF7-4684-889B-F193D78CC781}" destId="{D16EE1FA-5000-4179-850E-87B10C470C93}" srcOrd="2" destOrd="0" presId="urn:microsoft.com/office/officeart/2018/2/layout/IconVerticalSolidList"/>
    <dgm:cxn modelId="{6B1EC6C4-9286-7E45-9D9E-3029DC33D8C9}" type="presParOf" srcId="{8C4BA545-8AF7-4684-889B-F193D78CC781}" destId="{D30348D6-2351-417C-B016-AE680907F92E}" srcOrd="3" destOrd="0" presId="urn:microsoft.com/office/officeart/2018/2/layout/IconVerticalSolidList"/>
    <dgm:cxn modelId="{FEE2A359-03EC-7A48-8FF6-F7389F98EAB2}" type="presParOf" srcId="{BEC27105-1AFA-46B1-91AD-17E98AC97A0E}" destId="{D857D766-4EDA-42CC-AAC0-4331946CF90E}" srcOrd="3" destOrd="0" presId="urn:microsoft.com/office/officeart/2018/2/layout/IconVerticalSolidList"/>
    <dgm:cxn modelId="{E24F5CAC-A101-E441-8630-9479A6BC85F6}" type="presParOf" srcId="{BEC27105-1AFA-46B1-91AD-17E98AC97A0E}" destId="{5EF7260D-6E87-4B0F-B9F1-97765DCCE239}" srcOrd="4" destOrd="0" presId="urn:microsoft.com/office/officeart/2018/2/layout/IconVerticalSolidList"/>
    <dgm:cxn modelId="{9453F97B-1BB8-C44E-8D92-FC66DDBAAA89}" type="presParOf" srcId="{5EF7260D-6E87-4B0F-B9F1-97765DCCE239}" destId="{E51F4B67-E7BA-4DAA-8268-F3A5AD06EFA3}" srcOrd="0" destOrd="0" presId="urn:microsoft.com/office/officeart/2018/2/layout/IconVerticalSolidList"/>
    <dgm:cxn modelId="{4A52DAAE-EF7E-7244-9A07-421A769D5E04}" type="presParOf" srcId="{5EF7260D-6E87-4B0F-B9F1-97765DCCE239}" destId="{2C12031D-72CF-4995-BF15-1E2CE43AC633}" srcOrd="1" destOrd="0" presId="urn:microsoft.com/office/officeart/2018/2/layout/IconVerticalSolidList"/>
    <dgm:cxn modelId="{86D680B6-1C2B-724E-BEDF-50BE4A2B883F}" type="presParOf" srcId="{5EF7260D-6E87-4B0F-B9F1-97765DCCE239}" destId="{D72A70A6-7CD6-4427-9985-439B7B342FCA}" srcOrd="2" destOrd="0" presId="urn:microsoft.com/office/officeart/2018/2/layout/IconVerticalSolidList"/>
    <dgm:cxn modelId="{AF54C092-046F-6F44-BDFD-D9A9DD796155}" type="presParOf" srcId="{5EF7260D-6E87-4B0F-B9F1-97765DCCE239}" destId="{EE881EE6-81CE-4739-9A58-7815C1CA1E6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FF18921-4C69-4526-BB46-EDCD3C5BBEEF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8DAC4C0-CA88-4EC2-835B-00B89B4A39C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cap="none" dirty="0">
              <a:latin typeface="Times New Roman" panose="02020603050405020304" pitchFamily="18" charset="0"/>
              <a:cs typeface="Times New Roman" panose="02020603050405020304" pitchFamily="18" charset="0"/>
            </a:rPr>
            <a:t>Used R to forecast electricity demand using weather + usage data</a:t>
          </a:r>
        </a:p>
      </dgm:t>
    </dgm:pt>
    <dgm:pt modelId="{FCCE4046-0FAE-437B-A97A-B1B1D3D4799F}" type="parTrans" cxnId="{3BD18F73-DA89-401A-B8FD-40FDC70F1BD8}">
      <dgm:prSet/>
      <dgm:spPr/>
      <dgm:t>
        <a:bodyPr/>
        <a:lstStyle/>
        <a:p>
          <a:endParaRPr lang="en-US"/>
        </a:p>
      </dgm:t>
    </dgm:pt>
    <dgm:pt modelId="{B9ECFC0A-F0C8-48BB-B91B-2E3E2AB3378D}" type="sibTrans" cxnId="{3BD18F73-DA89-401A-B8FD-40FDC70F1BD8}">
      <dgm:prSet/>
      <dgm:spPr/>
      <dgm:t>
        <a:bodyPr/>
        <a:lstStyle/>
        <a:p>
          <a:endParaRPr lang="en-US"/>
        </a:p>
      </dgm:t>
    </dgm:pt>
    <dgm:pt modelId="{79816EC5-8042-41A4-9D08-CBB778EE1FE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cap="none" dirty="0">
              <a:latin typeface="Times New Roman" panose="02020603050405020304" pitchFamily="18" charset="0"/>
              <a:cs typeface="Times New Roman" panose="02020603050405020304" pitchFamily="18" charset="0"/>
            </a:rPr>
            <a:t>Achieved 90%+ accuracy; deployed interactive shiny dashboard</a:t>
          </a:r>
        </a:p>
      </dgm:t>
    </dgm:pt>
    <dgm:pt modelId="{8D98B167-80BC-4230-B7EE-53E1AD23DF8D}" type="parTrans" cxnId="{D2D53860-7010-4F89-893B-ED2BBA105427}">
      <dgm:prSet/>
      <dgm:spPr/>
      <dgm:t>
        <a:bodyPr/>
        <a:lstStyle/>
        <a:p>
          <a:endParaRPr lang="en-US"/>
        </a:p>
      </dgm:t>
    </dgm:pt>
    <dgm:pt modelId="{37118F1A-2C8F-47FB-9125-3BCC749F116E}" type="sibTrans" cxnId="{D2D53860-7010-4F89-893B-ED2BBA105427}">
      <dgm:prSet/>
      <dgm:spPr/>
      <dgm:t>
        <a:bodyPr/>
        <a:lstStyle/>
        <a:p>
          <a:endParaRPr lang="en-US"/>
        </a:p>
      </dgm:t>
    </dgm:pt>
    <dgm:pt modelId="{E29535E0-84B7-41EB-91C2-17786850404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cap="none" dirty="0">
              <a:latin typeface="Times New Roman" panose="02020603050405020304" pitchFamily="18" charset="0"/>
              <a:cs typeface="Times New Roman" panose="02020603050405020304" pitchFamily="18" charset="0"/>
            </a:rPr>
            <a:t>Insights help utilities manage load and policy recommendations</a:t>
          </a:r>
        </a:p>
      </dgm:t>
    </dgm:pt>
    <dgm:pt modelId="{6B4C4D93-29A5-4AEC-91D7-5137C487EEC1}" type="parTrans" cxnId="{536D5C81-3CEE-4491-8BA6-3992F754D835}">
      <dgm:prSet/>
      <dgm:spPr/>
      <dgm:t>
        <a:bodyPr/>
        <a:lstStyle/>
        <a:p>
          <a:endParaRPr lang="en-US"/>
        </a:p>
      </dgm:t>
    </dgm:pt>
    <dgm:pt modelId="{5AD41F14-277B-454B-9A65-280B3402560B}" type="sibTrans" cxnId="{536D5C81-3CEE-4491-8BA6-3992F754D835}">
      <dgm:prSet/>
      <dgm:spPr/>
      <dgm:t>
        <a:bodyPr/>
        <a:lstStyle/>
        <a:p>
          <a:endParaRPr lang="en-US"/>
        </a:p>
      </dgm:t>
    </dgm:pt>
    <dgm:pt modelId="{9D382363-6478-43CE-B69F-AFD442BB759D}" type="pres">
      <dgm:prSet presAssocID="{EFF18921-4C69-4526-BB46-EDCD3C5BBEEF}" presName="root" presStyleCnt="0">
        <dgm:presLayoutVars>
          <dgm:dir/>
          <dgm:resizeHandles val="exact"/>
        </dgm:presLayoutVars>
      </dgm:prSet>
      <dgm:spPr/>
    </dgm:pt>
    <dgm:pt modelId="{93AD89B9-F9E8-4A94-B2E8-6F673B94D254}" type="pres">
      <dgm:prSet presAssocID="{88DAC4C0-CA88-4EC2-835B-00B89B4A39CB}" presName="compNode" presStyleCnt="0"/>
      <dgm:spPr/>
    </dgm:pt>
    <dgm:pt modelId="{CCC31EEF-9DB2-49B8-90D4-D3EC06FAB4F7}" type="pres">
      <dgm:prSet presAssocID="{88DAC4C0-CA88-4EC2-835B-00B89B4A39CB}" presName="iconBgRect" presStyleLbl="bgShp" presStyleIdx="0" presStyleCnt="3"/>
      <dgm:spPr/>
    </dgm:pt>
    <dgm:pt modelId="{BB1FBA43-FEE7-4245-A05D-408AFAEDEFFB}" type="pres">
      <dgm:prSet presAssocID="{88DAC4C0-CA88-4EC2-835B-00B89B4A39C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93F42A54-94D5-4D37-92D9-D78B287D1630}" type="pres">
      <dgm:prSet presAssocID="{88DAC4C0-CA88-4EC2-835B-00B89B4A39CB}" presName="spaceRect" presStyleCnt="0"/>
      <dgm:spPr/>
    </dgm:pt>
    <dgm:pt modelId="{A566ADFD-1654-4701-97F6-DB0FFA1B76B8}" type="pres">
      <dgm:prSet presAssocID="{88DAC4C0-CA88-4EC2-835B-00B89B4A39CB}" presName="textRect" presStyleLbl="revTx" presStyleIdx="0" presStyleCnt="3">
        <dgm:presLayoutVars>
          <dgm:chMax val="1"/>
          <dgm:chPref val="1"/>
        </dgm:presLayoutVars>
      </dgm:prSet>
      <dgm:spPr/>
    </dgm:pt>
    <dgm:pt modelId="{6E991F5E-0884-4957-9B35-DBDE20D6F8B1}" type="pres">
      <dgm:prSet presAssocID="{B9ECFC0A-F0C8-48BB-B91B-2E3E2AB3378D}" presName="sibTrans" presStyleCnt="0"/>
      <dgm:spPr/>
    </dgm:pt>
    <dgm:pt modelId="{B74807A0-6C49-40EF-8379-05CA365AC8B0}" type="pres">
      <dgm:prSet presAssocID="{79816EC5-8042-41A4-9D08-CBB778EE1FED}" presName="compNode" presStyleCnt="0"/>
      <dgm:spPr/>
    </dgm:pt>
    <dgm:pt modelId="{F33A7AC1-CA27-4DF6-A390-414858A4CC94}" type="pres">
      <dgm:prSet presAssocID="{79816EC5-8042-41A4-9D08-CBB778EE1FED}" presName="iconBgRect" presStyleLbl="bgShp" presStyleIdx="1" presStyleCnt="3"/>
      <dgm:spPr/>
    </dgm:pt>
    <dgm:pt modelId="{703D8A26-0850-40F4-9887-4522759D0A87}" type="pres">
      <dgm:prSet presAssocID="{79816EC5-8042-41A4-9D08-CBB778EE1FE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r"/>
        </a:ext>
      </dgm:extLst>
    </dgm:pt>
    <dgm:pt modelId="{2DBE41AA-0102-45E3-ACD0-4EDB19DDF793}" type="pres">
      <dgm:prSet presAssocID="{79816EC5-8042-41A4-9D08-CBB778EE1FED}" presName="spaceRect" presStyleCnt="0"/>
      <dgm:spPr/>
    </dgm:pt>
    <dgm:pt modelId="{F266E10C-0EFF-4A70-AF24-E025F3595978}" type="pres">
      <dgm:prSet presAssocID="{79816EC5-8042-41A4-9D08-CBB778EE1FED}" presName="textRect" presStyleLbl="revTx" presStyleIdx="1" presStyleCnt="3">
        <dgm:presLayoutVars>
          <dgm:chMax val="1"/>
          <dgm:chPref val="1"/>
        </dgm:presLayoutVars>
      </dgm:prSet>
      <dgm:spPr/>
    </dgm:pt>
    <dgm:pt modelId="{74E16FB1-5FF3-49A7-9877-FE7A01EB9A6C}" type="pres">
      <dgm:prSet presAssocID="{37118F1A-2C8F-47FB-9125-3BCC749F116E}" presName="sibTrans" presStyleCnt="0"/>
      <dgm:spPr/>
    </dgm:pt>
    <dgm:pt modelId="{DC3DB9D0-3769-49C7-A093-2DDAC4F770D9}" type="pres">
      <dgm:prSet presAssocID="{E29535E0-84B7-41EB-91C2-177868504043}" presName="compNode" presStyleCnt="0"/>
      <dgm:spPr/>
    </dgm:pt>
    <dgm:pt modelId="{16057A43-100F-4D6F-B765-53F33AD8DCAC}" type="pres">
      <dgm:prSet presAssocID="{E29535E0-84B7-41EB-91C2-177868504043}" presName="iconBgRect" presStyleLbl="bgShp" presStyleIdx="2" presStyleCnt="3"/>
      <dgm:spPr/>
    </dgm:pt>
    <dgm:pt modelId="{391E3EAE-D9E8-4FB3-BCAC-F3DFE17AF09A}" type="pres">
      <dgm:prSet presAssocID="{E29535E0-84B7-41EB-91C2-17786850404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C84C9A47-B339-4805-8FE5-DF093EB917EE}" type="pres">
      <dgm:prSet presAssocID="{E29535E0-84B7-41EB-91C2-177868504043}" presName="spaceRect" presStyleCnt="0"/>
      <dgm:spPr/>
    </dgm:pt>
    <dgm:pt modelId="{58190499-F752-4F73-9A7B-5DC2CD7BFCCD}" type="pres">
      <dgm:prSet presAssocID="{E29535E0-84B7-41EB-91C2-177868504043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9A7B311-7C9C-4D1A-A351-C2BC419D0D6A}" type="presOf" srcId="{E29535E0-84B7-41EB-91C2-177868504043}" destId="{58190499-F752-4F73-9A7B-5DC2CD7BFCCD}" srcOrd="0" destOrd="0" presId="urn:microsoft.com/office/officeart/2018/5/layout/IconCircleLabelList"/>
    <dgm:cxn modelId="{92B1DE33-CD0E-48CD-A5CF-50D10C94A33B}" type="presOf" srcId="{79816EC5-8042-41A4-9D08-CBB778EE1FED}" destId="{F266E10C-0EFF-4A70-AF24-E025F3595978}" srcOrd="0" destOrd="0" presId="urn:microsoft.com/office/officeart/2018/5/layout/IconCircleLabelList"/>
    <dgm:cxn modelId="{381CDC4F-964D-44EA-9D07-439F93CACC41}" type="presOf" srcId="{88DAC4C0-CA88-4EC2-835B-00B89B4A39CB}" destId="{A566ADFD-1654-4701-97F6-DB0FFA1B76B8}" srcOrd="0" destOrd="0" presId="urn:microsoft.com/office/officeart/2018/5/layout/IconCircleLabelList"/>
    <dgm:cxn modelId="{D2D53860-7010-4F89-893B-ED2BBA105427}" srcId="{EFF18921-4C69-4526-BB46-EDCD3C5BBEEF}" destId="{79816EC5-8042-41A4-9D08-CBB778EE1FED}" srcOrd="1" destOrd="0" parTransId="{8D98B167-80BC-4230-B7EE-53E1AD23DF8D}" sibTransId="{37118F1A-2C8F-47FB-9125-3BCC749F116E}"/>
    <dgm:cxn modelId="{3BD18F73-DA89-401A-B8FD-40FDC70F1BD8}" srcId="{EFF18921-4C69-4526-BB46-EDCD3C5BBEEF}" destId="{88DAC4C0-CA88-4EC2-835B-00B89B4A39CB}" srcOrd="0" destOrd="0" parTransId="{FCCE4046-0FAE-437B-A97A-B1B1D3D4799F}" sibTransId="{B9ECFC0A-F0C8-48BB-B91B-2E3E2AB3378D}"/>
    <dgm:cxn modelId="{536D5C81-3CEE-4491-8BA6-3992F754D835}" srcId="{EFF18921-4C69-4526-BB46-EDCD3C5BBEEF}" destId="{E29535E0-84B7-41EB-91C2-177868504043}" srcOrd="2" destOrd="0" parTransId="{6B4C4D93-29A5-4AEC-91D7-5137C487EEC1}" sibTransId="{5AD41F14-277B-454B-9A65-280B3402560B}"/>
    <dgm:cxn modelId="{7EB97FB5-AC48-424C-9115-738832DA50FE}" type="presOf" srcId="{EFF18921-4C69-4526-BB46-EDCD3C5BBEEF}" destId="{9D382363-6478-43CE-B69F-AFD442BB759D}" srcOrd="0" destOrd="0" presId="urn:microsoft.com/office/officeart/2018/5/layout/IconCircleLabelList"/>
    <dgm:cxn modelId="{EB8752A7-3CFB-4C74-A56A-B32A3CBAF616}" type="presParOf" srcId="{9D382363-6478-43CE-B69F-AFD442BB759D}" destId="{93AD89B9-F9E8-4A94-B2E8-6F673B94D254}" srcOrd="0" destOrd="0" presId="urn:microsoft.com/office/officeart/2018/5/layout/IconCircleLabelList"/>
    <dgm:cxn modelId="{011B13A7-BF79-4084-B2B9-4FE329D5FEA5}" type="presParOf" srcId="{93AD89B9-F9E8-4A94-B2E8-6F673B94D254}" destId="{CCC31EEF-9DB2-49B8-90D4-D3EC06FAB4F7}" srcOrd="0" destOrd="0" presId="urn:microsoft.com/office/officeart/2018/5/layout/IconCircleLabelList"/>
    <dgm:cxn modelId="{5AF1C3DA-1D40-41F5-9BF4-E2DBF248B2AE}" type="presParOf" srcId="{93AD89B9-F9E8-4A94-B2E8-6F673B94D254}" destId="{BB1FBA43-FEE7-4245-A05D-408AFAEDEFFB}" srcOrd="1" destOrd="0" presId="urn:microsoft.com/office/officeart/2018/5/layout/IconCircleLabelList"/>
    <dgm:cxn modelId="{B53F5B16-8905-4239-B29A-6D16D3A820FB}" type="presParOf" srcId="{93AD89B9-F9E8-4A94-B2E8-6F673B94D254}" destId="{93F42A54-94D5-4D37-92D9-D78B287D1630}" srcOrd="2" destOrd="0" presId="urn:microsoft.com/office/officeart/2018/5/layout/IconCircleLabelList"/>
    <dgm:cxn modelId="{152CF344-0934-4F8F-8D6A-FAF4AA0F97AF}" type="presParOf" srcId="{93AD89B9-F9E8-4A94-B2E8-6F673B94D254}" destId="{A566ADFD-1654-4701-97F6-DB0FFA1B76B8}" srcOrd="3" destOrd="0" presId="urn:microsoft.com/office/officeart/2018/5/layout/IconCircleLabelList"/>
    <dgm:cxn modelId="{EA397E28-5B91-4F5D-8DF7-E020D47CFFF8}" type="presParOf" srcId="{9D382363-6478-43CE-B69F-AFD442BB759D}" destId="{6E991F5E-0884-4957-9B35-DBDE20D6F8B1}" srcOrd="1" destOrd="0" presId="urn:microsoft.com/office/officeart/2018/5/layout/IconCircleLabelList"/>
    <dgm:cxn modelId="{C9A72840-6FB8-4B80-87C0-3BE3B7C3A70D}" type="presParOf" srcId="{9D382363-6478-43CE-B69F-AFD442BB759D}" destId="{B74807A0-6C49-40EF-8379-05CA365AC8B0}" srcOrd="2" destOrd="0" presId="urn:microsoft.com/office/officeart/2018/5/layout/IconCircleLabelList"/>
    <dgm:cxn modelId="{105F97B5-3D34-4EC2-830B-90973A3FAB4D}" type="presParOf" srcId="{B74807A0-6C49-40EF-8379-05CA365AC8B0}" destId="{F33A7AC1-CA27-4DF6-A390-414858A4CC94}" srcOrd="0" destOrd="0" presId="urn:microsoft.com/office/officeart/2018/5/layout/IconCircleLabelList"/>
    <dgm:cxn modelId="{8C4B8E39-987A-466D-AFCE-B0FF9FE8F986}" type="presParOf" srcId="{B74807A0-6C49-40EF-8379-05CA365AC8B0}" destId="{703D8A26-0850-40F4-9887-4522759D0A87}" srcOrd="1" destOrd="0" presId="urn:microsoft.com/office/officeart/2018/5/layout/IconCircleLabelList"/>
    <dgm:cxn modelId="{FA4A804C-1B83-44F9-81B1-F67C4674009C}" type="presParOf" srcId="{B74807A0-6C49-40EF-8379-05CA365AC8B0}" destId="{2DBE41AA-0102-45E3-ACD0-4EDB19DDF793}" srcOrd="2" destOrd="0" presId="urn:microsoft.com/office/officeart/2018/5/layout/IconCircleLabelList"/>
    <dgm:cxn modelId="{CD0A0805-50A2-48E6-A068-8F701BA231E7}" type="presParOf" srcId="{B74807A0-6C49-40EF-8379-05CA365AC8B0}" destId="{F266E10C-0EFF-4A70-AF24-E025F3595978}" srcOrd="3" destOrd="0" presId="urn:microsoft.com/office/officeart/2018/5/layout/IconCircleLabelList"/>
    <dgm:cxn modelId="{19F0E75B-FD38-4BFE-BBB2-28E08CCDFCAC}" type="presParOf" srcId="{9D382363-6478-43CE-B69F-AFD442BB759D}" destId="{74E16FB1-5FF3-49A7-9877-FE7A01EB9A6C}" srcOrd="3" destOrd="0" presId="urn:microsoft.com/office/officeart/2018/5/layout/IconCircleLabelList"/>
    <dgm:cxn modelId="{BFA7BED8-DEAF-4B49-A996-2665389CB6E3}" type="presParOf" srcId="{9D382363-6478-43CE-B69F-AFD442BB759D}" destId="{DC3DB9D0-3769-49C7-A093-2DDAC4F770D9}" srcOrd="4" destOrd="0" presId="urn:microsoft.com/office/officeart/2018/5/layout/IconCircleLabelList"/>
    <dgm:cxn modelId="{C0C84503-83C1-441D-80D0-4B9B4CDC8FED}" type="presParOf" srcId="{DC3DB9D0-3769-49C7-A093-2DDAC4F770D9}" destId="{16057A43-100F-4D6F-B765-53F33AD8DCAC}" srcOrd="0" destOrd="0" presId="urn:microsoft.com/office/officeart/2018/5/layout/IconCircleLabelList"/>
    <dgm:cxn modelId="{6A8F1A22-CA01-448A-9AFA-108325427770}" type="presParOf" srcId="{DC3DB9D0-3769-49C7-A093-2DDAC4F770D9}" destId="{391E3EAE-D9E8-4FB3-BCAC-F3DFE17AF09A}" srcOrd="1" destOrd="0" presId="urn:microsoft.com/office/officeart/2018/5/layout/IconCircleLabelList"/>
    <dgm:cxn modelId="{8FAC115E-9802-4086-A63A-6B3626AA1403}" type="presParOf" srcId="{DC3DB9D0-3769-49C7-A093-2DDAC4F770D9}" destId="{C84C9A47-B339-4805-8FE5-DF093EB917EE}" srcOrd="2" destOrd="0" presId="urn:microsoft.com/office/officeart/2018/5/layout/IconCircleLabelList"/>
    <dgm:cxn modelId="{D27AE427-0DBB-4F94-B778-7EC3FD1EC6F9}" type="presParOf" srcId="{DC3DB9D0-3769-49C7-A093-2DDAC4F770D9}" destId="{58190499-F752-4F73-9A7B-5DC2CD7BFCC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6123F2-0191-7E4D-9491-B143127BDC59}">
      <dsp:nvSpPr>
        <dsp:cNvPr id="0" name=""/>
        <dsp:cNvSpPr/>
      </dsp:nvSpPr>
      <dsp:spPr>
        <a:xfrm>
          <a:off x="0" y="450390"/>
          <a:ext cx="5175384" cy="498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1667" tIns="499872" rIns="401667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Introduction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Portfolio Outlook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Folder Structure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Education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Professional Experience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Projects</a:t>
          </a:r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Cloud Management – IST 615</a:t>
          </a:r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Data Warehouse – IST 722</a:t>
          </a:r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DBMS – IST 659</a:t>
          </a:r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Introduction to DS – IST687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Skills and Certifications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Conclusion</a:t>
          </a:r>
        </a:p>
      </dsp:txBody>
      <dsp:txXfrm>
        <a:off x="0" y="450390"/>
        <a:ext cx="5175384" cy="4989600"/>
      </dsp:txXfrm>
    </dsp:sp>
    <dsp:sp modelId="{1422E982-F7C3-A04A-AFDD-BD258498F765}">
      <dsp:nvSpPr>
        <dsp:cNvPr id="0" name=""/>
        <dsp:cNvSpPr/>
      </dsp:nvSpPr>
      <dsp:spPr>
        <a:xfrm>
          <a:off x="258769" y="96150"/>
          <a:ext cx="3622768" cy="708480"/>
        </a:xfrm>
        <a:prstGeom prst="roundRect">
          <a:avLst/>
        </a:prstGeom>
        <a:solidFill>
          <a:schemeClr val="tx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932" tIns="0" rIns="136932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Contents</a:t>
          </a:r>
          <a:endParaRPr lang="en-US" sz="2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93354" y="130735"/>
        <a:ext cx="3553598" cy="6393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17F9F8-BB0A-4B0B-A1C5-B42209B9FFCF}">
      <dsp:nvSpPr>
        <dsp:cNvPr id="0" name=""/>
        <dsp:cNvSpPr/>
      </dsp:nvSpPr>
      <dsp:spPr>
        <a:xfrm>
          <a:off x="0" y="552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27976D-8F1D-4258-B48B-98A255FF8C6E}">
      <dsp:nvSpPr>
        <dsp:cNvPr id="0" name=""/>
        <dsp:cNvSpPr/>
      </dsp:nvSpPr>
      <dsp:spPr>
        <a:xfrm>
          <a:off x="391077" y="291436"/>
          <a:ext cx="711049" cy="7110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475CEE-D9A2-4E13-8AE7-1500106B88C1}">
      <dsp:nvSpPr>
        <dsp:cNvPr id="0" name=""/>
        <dsp:cNvSpPr/>
      </dsp:nvSpPr>
      <dsp:spPr>
        <a:xfrm>
          <a:off x="1493203" y="552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Graduate student at Syracuse University with 4.5+ years of experience</a:t>
          </a:r>
        </a:p>
      </dsp:txBody>
      <dsp:txXfrm>
        <a:off x="1493203" y="552"/>
        <a:ext cx="6736396" cy="1292816"/>
      </dsp:txXfrm>
    </dsp:sp>
    <dsp:sp modelId="{5E1787BE-5C8C-42E8-B3B1-3E222F4D8BED}">
      <dsp:nvSpPr>
        <dsp:cNvPr id="0" name=""/>
        <dsp:cNvSpPr/>
      </dsp:nvSpPr>
      <dsp:spPr>
        <a:xfrm>
          <a:off x="0" y="161657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3B066A-D2A5-4B7F-94B0-E4E9D5939AD2}">
      <dsp:nvSpPr>
        <dsp:cNvPr id="0" name=""/>
        <dsp:cNvSpPr/>
      </dsp:nvSpPr>
      <dsp:spPr>
        <a:xfrm>
          <a:off x="391077" y="1907456"/>
          <a:ext cx="711049" cy="7110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A5726B-8A12-4171-A565-24BF483873F9}">
      <dsp:nvSpPr>
        <dsp:cNvPr id="0" name=""/>
        <dsp:cNvSpPr/>
      </dsp:nvSpPr>
      <dsp:spPr>
        <a:xfrm>
          <a:off x="1493203" y="161657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Skilled in data engineering, cloud platforms, and business intelligence</a:t>
          </a:r>
        </a:p>
      </dsp:txBody>
      <dsp:txXfrm>
        <a:off x="1493203" y="1616573"/>
        <a:ext cx="6736396" cy="1292816"/>
      </dsp:txXfrm>
    </dsp:sp>
    <dsp:sp modelId="{230CB8DA-CC83-4C70-863F-34FBFA6A32B0}">
      <dsp:nvSpPr>
        <dsp:cNvPr id="0" name=""/>
        <dsp:cNvSpPr/>
      </dsp:nvSpPr>
      <dsp:spPr>
        <a:xfrm>
          <a:off x="0" y="323259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68DD31-DD66-4C46-A174-7F95DBCD5348}">
      <dsp:nvSpPr>
        <dsp:cNvPr id="0" name=""/>
        <dsp:cNvSpPr/>
      </dsp:nvSpPr>
      <dsp:spPr>
        <a:xfrm>
          <a:off x="391077" y="3523477"/>
          <a:ext cx="711049" cy="7110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B1ADD7-23D2-4037-9F11-A6F74A51F9A6}">
      <dsp:nvSpPr>
        <dsp:cNvPr id="0" name=""/>
        <dsp:cNvSpPr/>
      </dsp:nvSpPr>
      <dsp:spPr>
        <a:xfrm>
          <a:off x="1493203" y="323259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Passionate about transforming raw data into actionable insights</a:t>
          </a:r>
        </a:p>
      </dsp:txBody>
      <dsp:txXfrm>
        <a:off x="1493203" y="3232593"/>
        <a:ext cx="6736396" cy="129281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9B7D1F-1248-4671-A962-0D3BC3C62247}">
      <dsp:nvSpPr>
        <dsp:cNvPr id="0" name=""/>
        <dsp:cNvSpPr/>
      </dsp:nvSpPr>
      <dsp:spPr>
        <a:xfrm>
          <a:off x="0" y="682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0CBAF3-4644-433E-8948-0EDD1B3E80BB}">
      <dsp:nvSpPr>
        <dsp:cNvPr id="0" name=""/>
        <dsp:cNvSpPr/>
      </dsp:nvSpPr>
      <dsp:spPr>
        <a:xfrm>
          <a:off x="482961" y="359909"/>
          <a:ext cx="878111" cy="8781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6138EE-CC8F-4161-9660-4F4B7077240C}">
      <dsp:nvSpPr>
        <dsp:cNvPr id="0" name=""/>
        <dsp:cNvSpPr/>
      </dsp:nvSpPr>
      <dsp:spPr>
        <a:xfrm>
          <a:off x="1844034" y="682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Developed FEC campaign finance warehouse using Snowflake and </a:t>
          </a:r>
          <a:r>
            <a:rPr lang="en-US" sz="19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dbt</a:t>
          </a:r>
          <a:endParaRPr lang="en-US" sz="19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844034" y="682"/>
        <a:ext cx="2839914" cy="1596566"/>
      </dsp:txXfrm>
    </dsp:sp>
    <dsp:sp modelId="{48AE8DF9-EAA5-48BA-92A4-A11C41B9CB87}">
      <dsp:nvSpPr>
        <dsp:cNvPr id="0" name=""/>
        <dsp:cNvSpPr/>
      </dsp:nvSpPr>
      <dsp:spPr>
        <a:xfrm>
          <a:off x="0" y="1996390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832FDB-9646-498A-A960-8597F65F421E}">
      <dsp:nvSpPr>
        <dsp:cNvPr id="0" name=""/>
        <dsp:cNvSpPr/>
      </dsp:nvSpPr>
      <dsp:spPr>
        <a:xfrm>
          <a:off x="482961" y="2355617"/>
          <a:ext cx="878111" cy="8781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0348D6-2351-417C-B016-AE680907F92E}">
      <dsp:nvSpPr>
        <dsp:cNvPr id="0" name=""/>
        <dsp:cNvSpPr/>
      </dsp:nvSpPr>
      <dsp:spPr>
        <a:xfrm>
          <a:off x="1844034" y="1996390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Created star schema with contribution/expenditure fact tables</a:t>
          </a:r>
        </a:p>
      </dsp:txBody>
      <dsp:txXfrm>
        <a:off x="1844034" y="1996390"/>
        <a:ext cx="2839914" cy="1596566"/>
      </dsp:txXfrm>
    </dsp:sp>
    <dsp:sp modelId="{E51F4B67-E7BA-4DAA-8268-F3A5AD06EFA3}">
      <dsp:nvSpPr>
        <dsp:cNvPr id="0" name=""/>
        <dsp:cNvSpPr/>
      </dsp:nvSpPr>
      <dsp:spPr>
        <a:xfrm>
          <a:off x="0" y="3992098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12031D-72CF-4995-BF15-1E2CE43AC633}">
      <dsp:nvSpPr>
        <dsp:cNvPr id="0" name=""/>
        <dsp:cNvSpPr/>
      </dsp:nvSpPr>
      <dsp:spPr>
        <a:xfrm>
          <a:off x="482961" y="4351325"/>
          <a:ext cx="878111" cy="8781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881EE6-81CE-4739-9A58-7815C1CA1E6C}">
      <dsp:nvSpPr>
        <dsp:cNvPr id="0" name=""/>
        <dsp:cNvSpPr/>
      </dsp:nvSpPr>
      <dsp:spPr>
        <a:xfrm>
          <a:off x="1844034" y="3992098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Built Power BI dashboards to visualize trends across demographics</a:t>
          </a:r>
        </a:p>
      </dsp:txBody>
      <dsp:txXfrm>
        <a:off x="1844034" y="3992098"/>
        <a:ext cx="2839914" cy="159656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C31EEF-9DB2-49B8-90D4-D3EC06FAB4F7}">
      <dsp:nvSpPr>
        <dsp:cNvPr id="0" name=""/>
        <dsp:cNvSpPr/>
      </dsp:nvSpPr>
      <dsp:spPr>
        <a:xfrm>
          <a:off x="535049" y="935481"/>
          <a:ext cx="1475437" cy="147543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1FBA43-FEE7-4245-A05D-408AFAEDEFFB}">
      <dsp:nvSpPr>
        <dsp:cNvPr id="0" name=""/>
        <dsp:cNvSpPr/>
      </dsp:nvSpPr>
      <dsp:spPr>
        <a:xfrm>
          <a:off x="849487" y="1249919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66ADFD-1654-4701-97F6-DB0FFA1B76B8}">
      <dsp:nvSpPr>
        <dsp:cNvPr id="0" name=""/>
        <dsp:cNvSpPr/>
      </dsp:nvSpPr>
      <dsp:spPr>
        <a:xfrm>
          <a:off x="63393" y="2870481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 cap="none" dirty="0">
              <a:latin typeface="Times New Roman" panose="02020603050405020304" pitchFamily="18" charset="0"/>
              <a:cs typeface="Times New Roman" panose="02020603050405020304" pitchFamily="18" charset="0"/>
            </a:rPr>
            <a:t>Used R to forecast electricity demand using weather + usage data</a:t>
          </a:r>
        </a:p>
      </dsp:txBody>
      <dsp:txXfrm>
        <a:off x="63393" y="2870481"/>
        <a:ext cx="2418750" cy="720000"/>
      </dsp:txXfrm>
    </dsp:sp>
    <dsp:sp modelId="{F33A7AC1-CA27-4DF6-A390-414858A4CC94}">
      <dsp:nvSpPr>
        <dsp:cNvPr id="0" name=""/>
        <dsp:cNvSpPr/>
      </dsp:nvSpPr>
      <dsp:spPr>
        <a:xfrm>
          <a:off x="3377081" y="935481"/>
          <a:ext cx="1475437" cy="147543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3D8A26-0850-40F4-9887-4522759D0A87}">
      <dsp:nvSpPr>
        <dsp:cNvPr id="0" name=""/>
        <dsp:cNvSpPr/>
      </dsp:nvSpPr>
      <dsp:spPr>
        <a:xfrm>
          <a:off x="3691518" y="1249919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66E10C-0EFF-4A70-AF24-E025F3595978}">
      <dsp:nvSpPr>
        <dsp:cNvPr id="0" name=""/>
        <dsp:cNvSpPr/>
      </dsp:nvSpPr>
      <dsp:spPr>
        <a:xfrm>
          <a:off x="2905425" y="2870481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 cap="none" dirty="0">
              <a:latin typeface="Times New Roman" panose="02020603050405020304" pitchFamily="18" charset="0"/>
              <a:cs typeface="Times New Roman" panose="02020603050405020304" pitchFamily="18" charset="0"/>
            </a:rPr>
            <a:t>Achieved 90%+ accuracy; deployed interactive shiny dashboard</a:t>
          </a:r>
        </a:p>
      </dsp:txBody>
      <dsp:txXfrm>
        <a:off x="2905425" y="2870481"/>
        <a:ext cx="2418750" cy="720000"/>
      </dsp:txXfrm>
    </dsp:sp>
    <dsp:sp modelId="{16057A43-100F-4D6F-B765-53F33AD8DCAC}">
      <dsp:nvSpPr>
        <dsp:cNvPr id="0" name=""/>
        <dsp:cNvSpPr/>
      </dsp:nvSpPr>
      <dsp:spPr>
        <a:xfrm>
          <a:off x="6219112" y="935481"/>
          <a:ext cx="1475437" cy="147543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1E3EAE-D9E8-4FB3-BCAC-F3DFE17AF09A}">
      <dsp:nvSpPr>
        <dsp:cNvPr id="0" name=""/>
        <dsp:cNvSpPr/>
      </dsp:nvSpPr>
      <dsp:spPr>
        <a:xfrm>
          <a:off x="6533550" y="1249919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190499-F752-4F73-9A7B-5DC2CD7BFCCD}">
      <dsp:nvSpPr>
        <dsp:cNvPr id="0" name=""/>
        <dsp:cNvSpPr/>
      </dsp:nvSpPr>
      <dsp:spPr>
        <a:xfrm>
          <a:off x="5747456" y="2870481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 cap="none" dirty="0">
              <a:latin typeface="Times New Roman" panose="02020603050405020304" pitchFamily="18" charset="0"/>
              <a:cs typeface="Times New Roman" panose="02020603050405020304" pitchFamily="18" charset="0"/>
            </a:rPr>
            <a:t>Insights help utilities manage load and policy recommendations</a:t>
          </a:r>
        </a:p>
      </dsp:txBody>
      <dsp:txXfrm>
        <a:off x="5747456" y="2870481"/>
        <a:ext cx="2418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yushsaseendran.github.io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ayushsaseendran/Portfolio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ayushsaseendran.github.io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github.com/ayushsaseendran/Portfolio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Syracuse Athletics Events Closed to Public Until Further Notice Due to  COVID-19 - Syracuse University Athletics">
            <a:extLst>
              <a:ext uri="{FF2B5EF4-FFF2-40B4-BE49-F238E27FC236}">
                <a16:creationId xmlns:a16="http://schemas.microsoft.com/office/drawing/2014/main" id="{8BF91C14-9278-8D82-382D-BA75C9A0F0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81" r="20135"/>
          <a:stretch/>
        </p:blipFill>
        <p:spPr bwMode="auto">
          <a:xfrm>
            <a:off x="2827821" y="0"/>
            <a:ext cx="637316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30023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0" y="2452405"/>
            <a:ext cx="4330321" cy="3379720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500" dirty="0"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400" b="1">
                <a:solidFill>
                  <a:srgbClr val="FFFFFF"/>
                </a:solidFill>
              </a:defRPr>
            </a:pP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FINAL PORTFOLIO PRESENTATION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400" b="1">
                <a:solidFill>
                  <a:srgbClr val="FFFFFF"/>
                </a:solidFill>
              </a:defRPr>
            </a:pPr>
            <a:endParaRPr lang="en-US" sz="4500" dirty="0"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400" b="1">
                <a:solidFill>
                  <a:srgbClr val="FFFFFF"/>
                </a:solidFill>
              </a:defRPr>
            </a:pPr>
            <a:endParaRPr lang="en-US" sz="4500" dirty="0"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400" b="1">
                <a:solidFill>
                  <a:srgbClr val="FFFFFF"/>
                </a:solidFill>
              </a:defRPr>
            </a:pPr>
            <a:endParaRPr lang="en-US" sz="4500" dirty="0"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400" b="1">
                <a:solidFill>
                  <a:srgbClr val="FFFFFF"/>
                </a:solidFill>
              </a:defRPr>
            </a:pPr>
            <a:endParaRPr lang="en-US" sz="4500" dirty="0"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F4E730-291A-EBC6-B6EF-61F1635A5403}"/>
              </a:ext>
            </a:extLst>
          </p:cNvPr>
          <p:cNvSpPr txBox="1"/>
          <p:nvPr/>
        </p:nvSpPr>
        <p:spPr>
          <a:xfrm>
            <a:off x="-59273" y="3127917"/>
            <a:ext cx="4813680" cy="1287965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defRPr sz="2400">
                <a:solidFill>
                  <a:srgbClr val="C8C8C8"/>
                </a:solidFill>
              </a:defRPr>
            </a:pPr>
            <a:endParaRPr lang="en-US" sz="16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defRPr sz="2400">
                <a:solidFill>
                  <a:srgbClr val="C8C8C8"/>
                </a:solidFill>
              </a:defRPr>
            </a:pPr>
            <a:r>
              <a:rPr lang="en-US"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Ayush</a:t>
            </a: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Thoniparambil</a:t>
            </a: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Saseendran</a:t>
            </a:r>
            <a:b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M.S. in Applied Data Science, Syracuse University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6EF6BC-D170-61CE-5689-83E6AECA129F}"/>
              </a:ext>
            </a:extLst>
          </p:cNvPr>
          <p:cNvSpPr txBox="1"/>
          <p:nvPr/>
        </p:nvSpPr>
        <p:spPr>
          <a:xfrm>
            <a:off x="0" y="5861503"/>
            <a:ext cx="5069574" cy="587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Portfolio</a:t>
            </a:r>
            <a:endParaRPr lang="en-US" dirty="0"/>
          </a:p>
          <a:p>
            <a:r>
              <a:rPr lang="en-US" dirty="0">
                <a:hlinkClick r:id="rId4"/>
              </a:rPr>
              <a:t>GitHub</a:t>
            </a:r>
            <a:r>
              <a:rPr lang="en-US" dirty="0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extBox 1">
            <a:extLst>
              <a:ext uri="{FF2B5EF4-FFF2-40B4-BE49-F238E27FC236}">
                <a16:creationId xmlns:a16="http://schemas.microsoft.com/office/drawing/2014/main" id="{08BF0BBC-7110-ADDA-ABF3-896280F975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3091982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074" name="Picture 2" descr="Creating a table of contents ...">
            <a:extLst>
              <a:ext uri="{FF2B5EF4-FFF2-40B4-BE49-F238E27FC236}">
                <a16:creationId xmlns:a16="http://schemas.microsoft.com/office/drawing/2014/main" id="{CC4232F6-90DA-AB98-C9B3-3C6AD7ECD8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04" y="1680773"/>
            <a:ext cx="3073400" cy="265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7079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C0A08AE-9BEA-0EC3-C4BD-2673DEA7FF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321053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7B1AB9FE-36F5-4FD1-9850-DB5C5AD48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F489C2E0-4895-4B72-85EA-7EE9FAFFD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137397"/>
            <a:ext cx="9143999" cy="1720601"/>
          </a:xfrm>
          <a:prstGeom prst="rect">
            <a:avLst/>
          </a:prstGeom>
          <a:ln>
            <a:noFill/>
          </a:ln>
          <a:effectLst>
            <a:outerShdw blurRad="254000" dist="127000" dir="5460000" sx="90000" sy="90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D544F4-5179-14B7-B4D2-B6EE36120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168" y="5505709"/>
            <a:ext cx="5261625" cy="10194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Portfolio Outlook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6D3DAE-F7CB-1E18-32DD-6829C5783F5F}"/>
              </a:ext>
            </a:extLst>
          </p:cNvPr>
          <p:cNvSpPr txBox="1"/>
          <p:nvPr/>
        </p:nvSpPr>
        <p:spPr>
          <a:xfrm>
            <a:off x="5703794" y="5505709"/>
            <a:ext cx="3086100" cy="10194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  <a:spcBef>
                <a:spcPts val="1000"/>
              </a:spcBef>
            </a:pPr>
            <a:r>
              <a:rPr lang="en-US" sz="1700">
                <a:hlinkClick r:id="rId2"/>
              </a:rPr>
              <a:t>Portfolio</a:t>
            </a:r>
            <a:endParaRPr lang="en-US" sz="170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2572CC2-F8A0-BE5D-A035-117A83C880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8781" r="-2" b="-2"/>
          <a:stretch/>
        </p:blipFill>
        <p:spPr>
          <a:xfrm>
            <a:off x="20" y="10"/>
            <a:ext cx="9143979" cy="5137387"/>
          </a:xfrm>
          <a:prstGeom prst="rect">
            <a:avLst/>
          </a:prstGeom>
          <a:effectLst>
            <a:outerShdw blurRad="190500" dist="63500" dir="5400000" sx="98000" sy="98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92657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FCA2118-59A2-4310-A4B2-F2CBA821E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40492"/>
            <a:ext cx="9144000" cy="1924333"/>
          </a:xfrm>
          <a:custGeom>
            <a:avLst/>
            <a:gdLst>
              <a:gd name="connsiteX0" fmla="*/ 6189199 w 12192000"/>
              <a:gd name="connsiteY0" fmla="*/ 588 h 1924333"/>
              <a:gd name="connsiteX1" fmla="*/ 6207079 w 12192000"/>
              <a:gd name="connsiteY1" fmla="*/ 2850 h 1924333"/>
              <a:gd name="connsiteX2" fmla="*/ 6285610 w 12192000"/>
              <a:gd name="connsiteY2" fmla="*/ 18131 h 1924333"/>
              <a:gd name="connsiteX3" fmla="*/ 6378008 w 12192000"/>
              <a:gd name="connsiteY3" fmla="*/ 24625 h 1924333"/>
              <a:gd name="connsiteX4" fmla="*/ 6466340 w 12192000"/>
              <a:gd name="connsiteY4" fmla="*/ 21366 h 1924333"/>
              <a:gd name="connsiteX5" fmla="*/ 6553334 w 12192000"/>
              <a:gd name="connsiteY5" fmla="*/ 35307 h 1924333"/>
              <a:gd name="connsiteX6" fmla="*/ 6626068 w 12192000"/>
              <a:gd name="connsiteY6" fmla="*/ 58045 h 1924333"/>
              <a:gd name="connsiteX7" fmla="*/ 6692303 w 12192000"/>
              <a:gd name="connsiteY7" fmla="*/ 91487 h 1924333"/>
              <a:gd name="connsiteX8" fmla="*/ 6733670 w 12192000"/>
              <a:gd name="connsiteY8" fmla="*/ 118130 h 1924333"/>
              <a:gd name="connsiteX9" fmla="*/ 6798016 w 12192000"/>
              <a:gd name="connsiteY9" fmla="*/ 112271 h 1924333"/>
              <a:gd name="connsiteX10" fmla="*/ 6801081 w 12192000"/>
              <a:gd name="connsiteY10" fmla="*/ 114963 h 1924333"/>
              <a:gd name="connsiteX11" fmla="*/ 6819351 w 12192000"/>
              <a:gd name="connsiteY11" fmla="*/ 128825 h 1924333"/>
              <a:gd name="connsiteX12" fmla="*/ 6852732 w 12192000"/>
              <a:gd name="connsiteY12" fmla="*/ 123321 h 1924333"/>
              <a:gd name="connsiteX13" fmla="*/ 6865247 w 12192000"/>
              <a:gd name="connsiteY13" fmla="*/ 128836 h 1924333"/>
              <a:gd name="connsiteX14" fmla="*/ 6905517 w 12192000"/>
              <a:gd name="connsiteY14" fmla="*/ 129265 h 1924333"/>
              <a:gd name="connsiteX15" fmla="*/ 6950286 w 12192000"/>
              <a:gd name="connsiteY15" fmla="*/ 150104 h 1924333"/>
              <a:gd name="connsiteX16" fmla="*/ 7003442 w 12192000"/>
              <a:gd name="connsiteY16" fmla="*/ 136136 h 1924333"/>
              <a:gd name="connsiteX17" fmla="*/ 7160047 w 12192000"/>
              <a:gd name="connsiteY17" fmla="*/ 166721 h 1924333"/>
              <a:gd name="connsiteX18" fmla="*/ 7325604 w 12192000"/>
              <a:gd name="connsiteY18" fmla="*/ 215867 h 1924333"/>
              <a:gd name="connsiteX19" fmla="*/ 7540522 w 12192000"/>
              <a:gd name="connsiteY19" fmla="*/ 239374 h 1924333"/>
              <a:gd name="connsiteX20" fmla="*/ 7612071 w 12192000"/>
              <a:gd name="connsiteY20" fmla="*/ 229553 h 1924333"/>
              <a:gd name="connsiteX21" fmla="*/ 7651995 w 12192000"/>
              <a:gd name="connsiteY21" fmla="*/ 244567 h 1924333"/>
              <a:gd name="connsiteX22" fmla="*/ 7725761 w 12192000"/>
              <a:gd name="connsiteY22" fmla="*/ 258638 h 1924333"/>
              <a:gd name="connsiteX23" fmla="*/ 7823038 w 12192000"/>
              <a:gd name="connsiteY23" fmla="*/ 287078 h 1924333"/>
              <a:gd name="connsiteX24" fmla="*/ 7866405 w 12192000"/>
              <a:gd name="connsiteY24" fmla="*/ 287288 h 1924333"/>
              <a:gd name="connsiteX25" fmla="*/ 7875021 w 12192000"/>
              <a:gd name="connsiteY25" fmla="*/ 288224 h 1924333"/>
              <a:gd name="connsiteX26" fmla="*/ 7875146 w 12192000"/>
              <a:gd name="connsiteY26" fmla="*/ 288614 h 1924333"/>
              <a:gd name="connsiteX27" fmla="*/ 7907443 w 12192000"/>
              <a:gd name="connsiteY27" fmla="*/ 291752 h 1924333"/>
              <a:gd name="connsiteX28" fmla="*/ 7912892 w 12192000"/>
              <a:gd name="connsiteY28" fmla="*/ 294833 h 1924333"/>
              <a:gd name="connsiteX29" fmla="*/ 7946345 w 12192000"/>
              <a:gd name="connsiteY29" fmla="*/ 319359 h 1924333"/>
              <a:gd name="connsiteX30" fmla="*/ 8021238 w 12192000"/>
              <a:gd name="connsiteY30" fmla="*/ 315159 h 1924333"/>
              <a:gd name="connsiteX31" fmla="*/ 8094697 w 12192000"/>
              <a:gd name="connsiteY31" fmla="*/ 351819 h 1924333"/>
              <a:gd name="connsiteX32" fmla="*/ 8155208 w 12192000"/>
              <a:gd name="connsiteY32" fmla="*/ 371168 h 1924333"/>
              <a:gd name="connsiteX33" fmla="*/ 8248472 w 12192000"/>
              <a:gd name="connsiteY33" fmla="*/ 400489 h 1924333"/>
              <a:gd name="connsiteX34" fmla="*/ 8300068 w 12192000"/>
              <a:gd name="connsiteY34" fmla="*/ 405531 h 1924333"/>
              <a:gd name="connsiteX35" fmla="*/ 8356293 w 12192000"/>
              <a:gd name="connsiteY35" fmla="*/ 403328 h 1924333"/>
              <a:gd name="connsiteX36" fmla="*/ 8475838 w 12192000"/>
              <a:gd name="connsiteY36" fmla="*/ 435524 h 1924333"/>
              <a:gd name="connsiteX37" fmla="*/ 8575216 w 12192000"/>
              <a:gd name="connsiteY37" fmla="*/ 450198 h 1924333"/>
              <a:gd name="connsiteX38" fmla="*/ 8588650 w 12192000"/>
              <a:gd name="connsiteY38" fmla="*/ 447070 h 1924333"/>
              <a:gd name="connsiteX39" fmla="*/ 8612184 w 12192000"/>
              <a:gd name="connsiteY39" fmla="*/ 439577 h 1924333"/>
              <a:gd name="connsiteX40" fmla="*/ 8630713 w 12192000"/>
              <a:gd name="connsiteY40" fmla="*/ 433015 h 1924333"/>
              <a:gd name="connsiteX41" fmla="*/ 8704240 w 12192000"/>
              <a:gd name="connsiteY41" fmla="*/ 422865 h 1924333"/>
              <a:gd name="connsiteX42" fmla="*/ 8829513 w 12192000"/>
              <a:gd name="connsiteY42" fmla="*/ 429389 h 1924333"/>
              <a:gd name="connsiteX43" fmla="*/ 9083651 w 12192000"/>
              <a:gd name="connsiteY43" fmla="*/ 390744 h 1924333"/>
              <a:gd name="connsiteX44" fmla="*/ 9371402 w 12192000"/>
              <a:gd name="connsiteY44" fmla="*/ 371809 h 1924333"/>
              <a:gd name="connsiteX45" fmla="*/ 9429586 w 12192000"/>
              <a:gd name="connsiteY45" fmla="*/ 369213 h 1924333"/>
              <a:gd name="connsiteX46" fmla="*/ 9489757 w 12192000"/>
              <a:gd name="connsiteY46" fmla="*/ 377814 h 1924333"/>
              <a:gd name="connsiteX47" fmla="*/ 9516954 w 12192000"/>
              <a:gd name="connsiteY47" fmla="*/ 376991 h 1924333"/>
              <a:gd name="connsiteX48" fmla="*/ 9645588 w 12192000"/>
              <a:gd name="connsiteY48" fmla="*/ 363590 h 1924333"/>
              <a:gd name="connsiteX49" fmla="*/ 9722896 w 12192000"/>
              <a:gd name="connsiteY49" fmla="*/ 360983 h 1924333"/>
              <a:gd name="connsiteX50" fmla="*/ 9752803 w 12192000"/>
              <a:gd name="connsiteY50" fmla="*/ 368492 h 1924333"/>
              <a:gd name="connsiteX51" fmla="*/ 9890305 w 12192000"/>
              <a:gd name="connsiteY51" fmla="*/ 380736 h 1924333"/>
              <a:gd name="connsiteX52" fmla="*/ 9939767 w 12192000"/>
              <a:gd name="connsiteY52" fmla="*/ 377776 h 1924333"/>
              <a:gd name="connsiteX53" fmla="*/ 9944355 w 12192000"/>
              <a:gd name="connsiteY53" fmla="*/ 377352 h 1924333"/>
              <a:gd name="connsiteX54" fmla="*/ 9953719 w 12192000"/>
              <a:gd name="connsiteY54" fmla="*/ 375642 h 1924333"/>
              <a:gd name="connsiteX55" fmla="*/ 9955809 w 12192000"/>
              <a:gd name="connsiteY55" fmla="*/ 376294 h 1924333"/>
              <a:gd name="connsiteX56" fmla="*/ 10032710 w 12192000"/>
              <a:gd name="connsiteY56" fmla="*/ 394940 h 1924333"/>
              <a:gd name="connsiteX57" fmla="*/ 10049925 w 12192000"/>
              <a:gd name="connsiteY57" fmla="*/ 404971 h 1924333"/>
              <a:gd name="connsiteX58" fmla="*/ 10112671 w 12192000"/>
              <a:gd name="connsiteY58" fmla="*/ 414549 h 1924333"/>
              <a:gd name="connsiteX59" fmla="*/ 10170853 w 12192000"/>
              <a:gd name="connsiteY59" fmla="*/ 435168 h 1924333"/>
              <a:gd name="connsiteX60" fmla="*/ 10290184 w 12192000"/>
              <a:gd name="connsiteY60" fmla="*/ 448123 h 1924333"/>
              <a:gd name="connsiteX61" fmla="*/ 10320158 w 12192000"/>
              <a:gd name="connsiteY61" fmla="*/ 458352 h 1924333"/>
              <a:gd name="connsiteX62" fmla="*/ 10321815 w 12192000"/>
              <a:gd name="connsiteY62" fmla="*/ 463087 h 1924333"/>
              <a:gd name="connsiteX63" fmla="*/ 10373742 w 12192000"/>
              <a:gd name="connsiteY63" fmla="*/ 464538 h 1924333"/>
              <a:gd name="connsiteX64" fmla="*/ 10428532 w 12192000"/>
              <a:gd name="connsiteY64" fmla="*/ 492504 h 1924333"/>
              <a:gd name="connsiteX65" fmla="*/ 10466490 w 12192000"/>
              <a:gd name="connsiteY65" fmla="*/ 517759 h 1924333"/>
              <a:gd name="connsiteX66" fmla="*/ 10466675 w 12192000"/>
              <a:gd name="connsiteY66" fmla="*/ 522076 h 1924333"/>
              <a:gd name="connsiteX67" fmla="*/ 10470309 w 12192000"/>
              <a:gd name="connsiteY67" fmla="*/ 522792 h 1924333"/>
              <a:gd name="connsiteX68" fmla="*/ 10474138 w 12192000"/>
              <a:gd name="connsiteY68" fmla="*/ 519761 h 1924333"/>
              <a:gd name="connsiteX69" fmla="*/ 10501100 w 12192000"/>
              <a:gd name="connsiteY69" fmla="*/ 528263 h 1924333"/>
              <a:gd name="connsiteX70" fmla="*/ 10502395 w 12192000"/>
              <a:gd name="connsiteY70" fmla="*/ 536393 h 1924333"/>
              <a:gd name="connsiteX71" fmla="*/ 10689496 w 12192000"/>
              <a:gd name="connsiteY71" fmla="*/ 560233 h 1924333"/>
              <a:gd name="connsiteX72" fmla="*/ 10788736 w 12192000"/>
              <a:gd name="connsiteY72" fmla="*/ 613188 h 1924333"/>
              <a:gd name="connsiteX73" fmla="*/ 10819747 w 12192000"/>
              <a:gd name="connsiteY73" fmla="*/ 621351 h 1924333"/>
              <a:gd name="connsiteX74" fmla="*/ 10864632 w 12192000"/>
              <a:gd name="connsiteY74" fmla="*/ 644858 h 1924333"/>
              <a:gd name="connsiteX75" fmla="*/ 10929407 w 12192000"/>
              <a:gd name="connsiteY75" fmla="*/ 652945 h 1924333"/>
              <a:gd name="connsiteX76" fmla="*/ 10979412 w 12192000"/>
              <a:gd name="connsiteY76" fmla="*/ 654217 h 1924333"/>
              <a:gd name="connsiteX77" fmla="*/ 11006959 w 12192000"/>
              <a:gd name="connsiteY77" fmla="*/ 657017 h 1924333"/>
              <a:gd name="connsiteX78" fmla="*/ 11077038 w 12192000"/>
              <a:gd name="connsiteY78" fmla="*/ 668487 h 1924333"/>
              <a:gd name="connsiteX79" fmla="*/ 11157850 w 12192000"/>
              <a:gd name="connsiteY79" fmla="*/ 693164 h 1924333"/>
              <a:gd name="connsiteX80" fmla="*/ 11175276 w 12192000"/>
              <a:gd name="connsiteY80" fmla="*/ 697243 h 1924333"/>
              <a:gd name="connsiteX81" fmla="*/ 11191131 w 12192000"/>
              <a:gd name="connsiteY81" fmla="*/ 696085 h 1924333"/>
              <a:gd name="connsiteX82" fmla="*/ 11195573 w 12192000"/>
              <a:gd name="connsiteY82" fmla="*/ 691751 h 1924333"/>
              <a:gd name="connsiteX83" fmla="*/ 11205299 w 12192000"/>
              <a:gd name="connsiteY83" fmla="*/ 693247 h 1924333"/>
              <a:gd name="connsiteX84" fmla="*/ 11223770 w 12192000"/>
              <a:gd name="connsiteY84" fmla="*/ 690335 h 1924333"/>
              <a:gd name="connsiteX85" fmla="*/ 11292119 w 12192000"/>
              <a:gd name="connsiteY85" fmla="*/ 713311 h 1924333"/>
              <a:gd name="connsiteX86" fmla="*/ 11435379 w 12192000"/>
              <a:gd name="connsiteY86" fmla="*/ 758519 h 1924333"/>
              <a:gd name="connsiteX87" fmla="*/ 11604406 w 12192000"/>
              <a:gd name="connsiteY87" fmla="*/ 810476 h 1924333"/>
              <a:gd name="connsiteX88" fmla="*/ 11652155 w 12192000"/>
              <a:gd name="connsiteY88" fmla="*/ 825109 h 1924333"/>
              <a:gd name="connsiteX89" fmla="*/ 11654192 w 12192000"/>
              <a:gd name="connsiteY89" fmla="*/ 827301 h 1924333"/>
              <a:gd name="connsiteX90" fmla="*/ 11676599 w 12192000"/>
              <a:gd name="connsiteY90" fmla="*/ 846628 h 1924333"/>
              <a:gd name="connsiteX91" fmla="*/ 11775168 w 12192000"/>
              <a:gd name="connsiteY91" fmla="*/ 890664 h 1924333"/>
              <a:gd name="connsiteX92" fmla="*/ 11826341 w 12192000"/>
              <a:gd name="connsiteY92" fmla="*/ 877558 h 1924333"/>
              <a:gd name="connsiteX93" fmla="*/ 11879068 w 12192000"/>
              <a:gd name="connsiteY93" fmla="*/ 874038 h 1924333"/>
              <a:gd name="connsiteX94" fmla="*/ 11889563 w 12192000"/>
              <a:gd name="connsiteY94" fmla="*/ 878619 h 1924333"/>
              <a:gd name="connsiteX95" fmla="*/ 12016613 w 12192000"/>
              <a:gd name="connsiteY95" fmla="*/ 886111 h 1924333"/>
              <a:gd name="connsiteX96" fmla="*/ 12108292 w 12192000"/>
              <a:gd name="connsiteY96" fmla="*/ 868500 h 1924333"/>
              <a:gd name="connsiteX97" fmla="*/ 12182910 w 12192000"/>
              <a:gd name="connsiteY97" fmla="*/ 882003 h 1924333"/>
              <a:gd name="connsiteX98" fmla="*/ 12192000 w 12192000"/>
              <a:gd name="connsiteY98" fmla="*/ 884778 h 1924333"/>
              <a:gd name="connsiteX99" fmla="*/ 12192000 w 12192000"/>
              <a:gd name="connsiteY99" fmla="*/ 1610315 h 1924333"/>
              <a:gd name="connsiteX100" fmla="*/ 12191998 w 12192000"/>
              <a:gd name="connsiteY100" fmla="*/ 1610315 h 1924333"/>
              <a:gd name="connsiteX101" fmla="*/ 12191998 w 12192000"/>
              <a:gd name="connsiteY101" fmla="*/ 1924333 h 1924333"/>
              <a:gd name="connsiteX102" fmla="*/ 0 w 12192000"/>
              <a:gd name="connsiteY102" fmla="*/ 1924333 h 1924333"/>
              <a:gd name="connsiteX103" fmla="*/ 0 w 12192000"/>
              <a:gd name="connsiteY103" fmla="*/ 505159 h 1924333"/>
              <a:gd name="connsiteX104" fmla="*/ 5722 w 12192000"/>
              <a:gd name="connsiteY104" fmla="*/ 508889 h 1924333"/>
              <a:gd name="connsiteX105" fmla="*/ 38476 w 12192000"/>
              <a:gd name="connsiteY105" fmla="*/ 524137 h 1924333"/>
              <a:gd name="connsiteX106" fmla="*/ 192883 w 12192000"/>
              <a:gd name="connsiteY106" fmla="*/ 545272 h 1924333"/>
              <a:gd name="connsiteX107" fmla="*/ 343710 w 12192000"/>
              <a:gd name="connsiteY107" fmla="*/ 565029 h 1924333"/>
              <a:gd name="connsiteX108" fmla="*/ 471066 w 12192000"/>
              <a:gd name="connsiteY108" fmla="*/ 549837 h 1924333"/>
              <a:gd name="connsiteX109" fmla="*/ 617333 w 12192000"/>
              <a:gd name="connsiteY109" fmla="*/ 526428 h 1924333"/>
              <a:gd name="connsiteX110" fmla="*/ 725203 w 12192000"/>
              <a:gd name="connsiteY110" fmla="*/ 523793 h 1924333"/>
              <a:gd name="connsiteX111" fmla="*/ 788494 w 12192000"/>
              <a:gd name="connsiteY111" fmla="*/ 505799 h 1924333"/>
              <a:gd name="connsiteX112" fmla="*/ 885977 w 12192000"/>
              <a:gd name="connsiteY112" fmla="*/ 526585 h 1924333"/>
              <a:gd name="connsiteX113" fmla="*/ 932142 w 12192000"/>
              <a:gd name="connsiteY113" fmla="*/ 528005 h 1924333"/>
              <a:gd name="connsiteX114" fmla="*/ 1090404 w 12192000"/>
              <a:gd name="connsiteY114" fmla="*/ 498299 h 1924333"/>
              <a:gd name="connsiteX115" fmla="*/ 1188628 w 12192000"/>
              <a:gd name="connsiteY115" fmla="*/ 483151 h 1924333"/>
              <a:gd name="connsiteX116" fmla="*/ 1316247 w 12192000"/>
              <a:gd name="connsiteY116" fmla="*/ 425979 h 1924333"/>
              <a:gd name="connsiteX117" fmla="*/ 1357712 w 12192000"/>
              <a:gd name="connsiteY117" fmla="*/ 416549 h 1924333"/>
              <a:gd name="connsiteX118" fmla="*/ 1425921 w 12192000"/>
              <a:gd name="connsiteY118" fmla="*/ 413953 h 1924333"/>
              <a:gd name="connsiteX119" fmla="*/ 1503817 w 12192000"/>
              <a:gd name="connsiteY119" fmla="*/ 380457 h 1924333"/>
              <a:gd name="connsiteX120" fmla="*/ 1639196 w 12192000"/>
              <a:gd name="connsiteY120" fmla="*/ 372785 h 1924333"/>
              <a:gd name="connsiteX121" fmla="*/ 1705606 w 12192000"/>
              <a:gd name="connsiteY121" fmla="*/ 359023 h 1924333"/>
              <a:gd name="connsiteX122" fmla="*/ 1813011 w 12192000"/>
              <a:gd name="connsiteY122" fmla="*/ 331023 h 1924333"/>
              <a:gd name="connsiteX123" fmla="*/ 1831380 w 12192000"/>
              <a:gd name="connsiteY123" fmla="*/ 341307 h 1924333"/>
              <a:gd name="connsiteX124" fmla="*/ 1858612 w 12192000"/>
              <a:gd name="connsiteY124" fmla="*/ 326777 h 1924333"/>
              <a:gd name="connsiteX125" fmla="*/ 1880661 w 12192000"/>
              <a:gd name="connsiteY125" fmla="*/ 335987 h 1924333"/>
              <a:gd name="connsiteX126" fmla="*/ 1941495 w 12192000"/>
              <a:gd name="connsiteY126" fmla="*/ 310792 h 1924333"/>
              <a:gd name="connsiteX127" fmla="*/ 1995402 w 12192000"/>
              <a:gd name="connsiteY127" fmla="*/ 305480 h 1924333"/>
              <a:gd name="connsiteX128" fmla="*/ 2223864 w 12192000"/>
              <a:gd name="connsiteY128" fmla="*/ 266118 h 1924333"/>
              <a:gd name="connsiteX129" fmla="*/ 2418043 w 12192000"/>
              <a:gd name="connsiteY129" fmla="*/ 215314 h 1924333"/>
              <a:gd name="connsiteX130" fmla="*/ 2558461 w 12192000"/>
              <a:gd name="connsiteY130" fmla="*/ 168193 h 1924333"/>
              <a:gd name="connsiteX131" fmla="*/ 2595535 w 12192000"/>
              <a:gd name="connsiteY131" fmla="*/ 158548 h 1924333"/>
              <a:gd name="connsiteX132" fmla="*/ 2626942 w 12192000"/>
              <a:gd name="connsiteY132" fmla="*/ 130400 h 1924333"/>
              <a:gd name="connsiteX133" fmla="*/ 2632225 w 12192000"/>
              <a:gd name="connsiteY133" fmla="*/ 130446 h 1924333"/>
              <a:gd name="connsiteX134" fmla="*/ 2696856 w 12192000"/>
              <a:gd name="connsiteY134" fmla="*/ 128498 h 1924333"/>
              <a:gd name="connsiteX135" fmla="*/ 2759767 w 12192000"/>
              <a:gd name="connsiteY135" fmla="*/ 127784 h 1924333"/>
              <a:gd name="connsiteX136" fmla="*/ 2792685 w 12192000"/>
              <a:gd name="connsiteY136" fmla="*/ 115710 h 1924333"/>
              <a:gd name="connsiteX137" fmla="*/ 2799767 w 12192000"/>
              <a:gd name="connsiteY137" fmla="*/ 113754 h 1924333"/>
              <a:gd name="connsiteX138" fmla="*/ 2829799 w 12192000"/>
              <a:gd name="connsiteY138" fmla="*/ 120042 h 1924333"/>
              <a:gd name="connsiteX139" fmla="*/ 2890704 w 12192000"/>
              <a:gd name="connsiteY139" fmla="*/ 121493 h 1924333"/>
              <a:gd name="connsiteX140" fmla="*/ 3042646 w 12192000"/>
              <a:gd name="connsiteY140" fmla="*/ 112273 h 1924333"/>
              <a:gd name="connsiteX141" fmla="*/ 3146630 w 12192000"/>
              <a:gd name="connsiteY141" fmla="*/ 100898 h 1924333"/>
              <a:gd name="connsiteX142" fmla="*/ 3233163 w 12192000"/>
              <a:gd name="connsiteY142" fmla="*/ 120200 h 1924333"/>
              <a:gd name="connsiteX143" fmla="*/ 3372699 w 12192000"/>
              <a:gd name="connsiteY143" fmla="*/ 129394 h 1924333"/>
              <a:gd name="connsiteX144" fmla="*/ 3394352 w 12192000"/>
              <a:gd name="connsiteY144" fmla="*/ 131671 h 1924333"/>
              <a:gd name="connsiteX145" fmla="*/ 3448218 w 12192000"/>
              <a:gd name="connsiteY145" fmla="*/ 118229 h 1924333"/>
              <a:gd name="connsiteX146" fmla="*/ 3505047 w 12192000"/>
              <a:gd name="connsiteY146" fmla="*/ 115412 h 1924333"/>
              <a:gd name="connsiteX147" fmla="*/ 3521767 w 12192000"/>
              <a:gd name="connsiteY147" fmla="*/ 111071 h 1924333"/>
              <a:gd name="connsiteX148" fmla="*/ 3585137 w 12192000"/>
              <a:gd name="connsiteY148" fmla="*/ 114371 h 1924333"/>
              <a:gd name="connsiteX149" fmla="*/ 3690293 w 12192000"/>
              <a:gd name="connsiteY149" fmla="*/ 98301 h 1924333"/>
              <a:gd name="connsiteX150" fmla="*/ 3867818 w 12192000"/>
              <a:gd name="connsiteY150" fmla="*/ 88985 h 1924333"/>
              <a:gd name="connsiteX151" fmla="*/ 4091337 w 12192000"/>
              <a:gd name="connsiteY151" fmla="*/ 70813 h 1924333"/>
              <a:gd name="connsiteX152" fmla="*/ 4246332 w 12192000"/>
              <a:gd name="connsiteY152" fmla="*/ 41697 h 1924333"/>
              <a:gd name="connsiteX153" fmla="*/ 4266975 w 12192000"/>
              <a:gd name="connsiteY153" fmla="*/ 46592 h 1924333"/>
              <a:gd name="connsiteX154" fmla="*/ 4270566 w 12192000"/>
              <a:gd name="connsiteY154" fmla="*/ 47620 h 1924333"/>
              <a:gd name="connsiteX155" fmla="*/ 4288964 w 12192000"/>
              <a:gd name="connsiteY155" fmla="*/ 52766 h 1924333"/>
              <a:gd name="connsiteX156" fmla="*/ 4365137 w 12192000"/>
              <a:gd name="connsiteY156" fmla="*/ 51783 h 1924333"/>
              <a:gd name="connsiteX157" fmla="*/ 4430546 w 12192000"/>
              <a:gd name="connsiteY157" fmla="*/ 44555 h 1924333"/>
              <a:gd name="connsiteX158" fmla="*/ 4444136 w 12192000"/>
              <a:gd name="connsiteY158" fmla="*/ 39567 h 1924333"/>
              <a:gd name="connsiteX159" fmla="*/ 4534039 w 12192000"/>
              <a:gd name="connsiteY159" fmla="*/ 31604 h 1924333"/>
              <a:gd name="connsiteX160" fmla="*/ 4560448 w 12192000"/>
              <a:gd name="connsiteY160" fmla="*/ 25231 h 1924333"/>
              <a:gd name="connsiteX161" fmla="*/ 4568006 w 12192000"/>
              <a:gd name="connsiteY161" fmla="*/ 25970 h 1924333"/>
              <a:gd name="connsiteX162" fmla="*/ 4595497 w 12192000"/>
              <a:gd name="connsiteY162" fmla="*/ 22958 h 1924333"/>
              <a:gd name="connsiteX163" fmla="*/ 4608623 w 12192000"/>
              <a:gd name="connsiteY163" fmla="*/ 18108 h 1924333"/>
              <a:gd name="connsiteX164" fmla="*/ 4623942 w 12192000"/>
              <a:gd name="connsiteY164" fmla="*/ 22251 h 1924333"/>
              <a:gd name="connsiteX165" fmla="*/ 4664336 w 12192000"/>
              <a:gd name="connsiteY165" fmla="*/ 23306 h 1924333"/>
              <a:gd name="connsiteX166" fmla="*/ 4677385 w 12192000"/>
              <a:gd name="connsiteY166" fmla="*/ 18246 h 1924333"/>
              <a:gd name="connsiteX167" fmla="*/ 4698143 w 12192000"/>
              <a:gd name="connsiteY167" fmla="*/ 18036 h 1924333"/>
              <a:gd name="connsiteX168" fmla="*/ 4750609 w 12192000"/>
              <a:gd name="connsiteY168" fmla="*/ 23611 h 1924333"/>
              <a:gd name="connsiteX169" fmla="*/ 4784658 w 12192000"/>
              <a:gd name="connsiteY169" fmla="*/ 25057 h 1924333"/>
              <a:gd name="connsiteX170" fmla="*/ 4847558 w 12192000"/>
              <a:gd name="connsiteY170" fmla="*/ 38726 h 1924333"/>
              <a:gd name="connsiteX171" fmla="*/ 4909134 w 12192000"/>
              <a:gd name="connsiteY171" fmla="*/ 50659 h 1924333"/>
              <a:gd name="connsiteX172" fmla="*/ 5099219 w 12192000"/>
              <a:gd name="connsiteY172" fmla="*/ 55050 h 1924333"/>
              <a:gd name="connsiteX173" fmla="*/ 5184992 w 12192000"/>
              <a:gd name="connsiteY173" fmla="*/ 67596 h 1924333"/>
              <a:gd name="connsiteX174" fmla="*/ 5229637 w 12192000"/>
              <a:gd name="connsiteY174" fmla="*/ 67789 h 1924333"/>
              <a:gd name="connsiteX175" fmla="*/ 5389346 w 12192000"/>
              <a:gd name="connsiteY175" fmla="*/ 80211 h 1924333"/>
              <a:gd name="connsiteX176" fmla="*/ 5494414 w 12192000"/>
              <a:gd name="connsiteY176" fmla="*/ 75926 h 1924333"/>
              <a:gd name="connsiteX177" fmla="*/ 5528443 w 12192000"/>
              <a:gd name="connsiteY177" fmla="*/ 77206 h 1924333"/>
              <a:gd name="connsiteX178" fmla="*/ 5684939 w 12192000"/>
              <a:gd name="connsiteY178" fmla="*/ 50269 h 1924333"/>
              <a:gd name="connsiteX179" fmla="*/ 5765146 w 12192000"/>
              <a:gd name="connsiteY179" fmla="*/ 50414 h 1924333"/>
              <a:gd name="connsiteX180" fmla="*/ 5848655 w 12192000"/>
              <a:gd name="connsiteY180" fmla="*/ 35257 h 1924333"/>
              <a:gd name="connsiteX181" fmla="*/ 5930656 w 12192000"/>
              <a:gd name="connsiteY181" fmla="*/ 30131 h 1924333"/>
              <a:gd name="connsiteX182" fmla="*/ 6124150 w 12192000"/>
              <a:gd name="connsiteY182" fmla="*/ 31679 h 1924333"/>
              <a:gd name="connsiteX183" fmla="*/ 6189199 w 12192000"/>
              <a:gd name="connsiteY183" fmla="*/ 588 h 1924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</a:cxnLst>
            <a:rect l="l" t="t" r="r" b="b"/>
            <a:pathLst>
              <a:path w="12192000" h="1924333">
                <a:moveTo>
                  <a:pt x="6189199" y="588"/>
                </a:moveTo>
                <a:cubicBezTo>
                  <a:pt x="6196356" y="-574"/>
                  <a:pt x="6202609" y="-108"/>
                  <a:pt x="6207079" y="2850"/>
                </a:cubicBezTo>
                <a:cubicBezTo>
                  <a:pt x="6222026" y="2749"/>
                  <a:pt x="6273489" y="3767"/>
                  <a:pt x="6285610" y="18131"/>
                </a:cubicBezTo>
                <a:cubicBezTo>
                  <a:pt x="6307255" y="18685"/>
                  <a:pt x="6357141" y="23793"/>
                  <a:pt x="6378008" y="24625"/>
                </a:cubicBezTo>
                <a:cubicBezTo>
                  <a:pt x="6409946" y="30645"/>
                  <a:pt x="6438307" y="10375"/>
                  <a:pt x="6466340" y="21366"/>
                </a:cubicBezTo>
                <a:cubicBezTo>
                  <a:pt x="6488276" y="31229"/>
                  <a:pt x="6529854" y="28110"/>
                  <a:pt x="6553334" y="35307"/>
                </a:cubicBezTo>
                <a:cubicBezTo>
                  <a:pt x="6561737" y="48059"/>
                  <a:pt x="6609188" y="62087"/>
                  <a:pt x="6626068" y="58045"/>
                </a:cubicBezTo>
                <a:cubicBezTo>
                  <a:pt x="6660952" y="66570"/>
                  <a:pt x="6666277" y="84716"/>
                  <a:pt x="6692303" y="91487"/>
                </a:cubicBezTo>
                <a:lnTo>
                  <a:pt x="6733670" y="118130"/>
                </a:lnTo>
                <a:lnTo>
                  <a:pt x="6798016" y="112271"/>
                </a:lnTo>
                <a:lnTo>
                  <a:pt x="6801081" y="114963"/>
                </a:lnTo>
                <a:cubicBezTo>
                  <a:pt x="6806919" y="120140"/>
                  <a:pt x="6812832" y="125016"/>
                  <a:pt x="6819351" y="128825"/>
                </a:cubicBezTo>
                <a:cubicBezTo>
                  <a:pt x="6825742" y="109997"/>
                  <a:pt x="6840132" y="116541"/>
                  <a:pt x="6852732" y="123321"/>
                </a:cubicBezTo>
                <a:lnTo>
                  <a:pt x="6865247" y="128836"/>
                </a:lnTo>
                <a:lnTo>
                  <a:pt x="6905517" y="129265"/>
                </a:lnTo>
                <a:cubicBezTo>
                  <a:pt x="6934052" y="140042"/>
                  <a:pt x="6939773" y="141556"/>
                  <a:pt x="6950286" y="150104"/>
                </a:cubicBezTo>
                <a:lnTo>
                  <a:pt x="7003442" y="136136"/>
                </a:lnTo>
                <a:lnTo>
                  <a:pt x="7160047" y="166721"/>
                </a:lnTo>
                <a:cubicBezTo>
                  <a:pt x="7207281" y="179911"/>
                  <a:pt x="7280644" y="210197"/>
                  <a:pt x="7325604" y="215867"/>
                </a:cubicBezTo>
                <a:cubicBezTo>
                  <a:pt x="7460113" y="233904"/>
                  <a:pt x="7393081" y="242880"/>
                  <a:pt x="7540522" y="239374"/>
                </a:cubicBezTo>
                <a:cubicBezTo>
                  <a:pt x="7545714" y="234872"/>
                  <a:pt x="7605972" y="231727"/>
                  <a:pt x="7612071" y="229553"/>
                </a:cubicBezTo>
                <a:lnTo>
                  <a:pt x="7651995" y="244567"/>
                </a:lnTo>
                <a:lnTo>
                  <a:pt x="7725761" y="258638"/>
                </a:lnTo>
                <a:lnTo>
                  <a:pt x="7823038" y="287078"/>
                </a:lnTo>
                <a:cubicBezTo>
                  <a:pt x="7837080" y="286482"/>
                  <a:pt x="7851647" y="286498"/>
                  <a:pt x="7866405" y="287288"/>
                </a:cubicBezTo>
                <a:lnTo>
                  <a:pt x="7875021" y="288224"/>
                </a:lnTo>
                <a:cubicBezTo>
                  <a:pt x="7875062" y="288354"/>
                  <a:pt x="7875105" y="288483"/>
                  <a:pt x="7875146" y="288614"/>
                </a:cubicBezTo>
                <a:cubicBezTo>
                  <a:pt x="7880550" y="289202"/>
                  <a:pt x="7901153" y="290716"/>
                  <a:pt x="7907443" y="291752"/>
                </a:cubicBezTo>
                <a:lnTo>
                  <a:pt x="7912892" y="294833"/>
                </a:lnTo>
                <a:lnTo>
                  <a:pt x="7946345" y="319359"/>
                </a:lnTo>
                <a:cubicBezTo>
                  <a:pt x="7958657" y="312776"/>
                  <a:pt x="7996513" y="309749"/>
                  <a:pt x="8021238" y="315159"/>
                </a:cubicBezTo>
                <a:cubicBezTo>
                  <a:pt x="8045964" y="320570"/>
                  <a:pt x="8058169" y="340462"/>
                  <a:pt x="8094697" y="351819"/>
                </a:cubicBezTo>
                <a:cubicBezTo>
                  <a:pt x="8129587" y="361154"/>
                  <a:pt x="8116181" y="360544"/>
                  <a:pt x="8155208" y="371168"/>
                </a:cubicBezTo>
                <a:cubicBezTo>
                  <a:pt x="8196217" y="383300"/>
                  <a:pt x="8205468" y="391801"/>
                  <a:pt x="8248472" y="400489"/>
                </a:cubicBezTo>
                <a:cubicBezTo>
                  <a:pt x="8283932" y="419791"/>
                  <a:pt x="8278617" y="392031"/>
                  <a:pt x="8300068" y="405531"/>
                </a:cubicBezTo>
                <a:lnTo>
                  <a:pt x="8356293" y="403328"/>
                </a:lnTo>
                <a:cubicBezTo>
                  <a:pt x="8377247" y="404463"/>
                  <a:pt x="8438442" y="433194"/>
                  <a:pt x="8475838" y="435524"/>
                </a:cubicBezTo>
                <a:cubicBezTo>
                  <a:pt x="8510241" y="438037"/>
                  <a:pt x="8545511" y="449840"/>
                  <a:pt x="8575216" y="450198"/>
                </a:cubicBezTo>
                <a:lnTo>
                  <a:pt x="8588650" y="447070"/>
                </a:lnTo>
                <a:lnTo>
                  <a:pt x="8612184" y="439577"/>
                </a:lnTo>
                <a:lnTo>
                  <a:pt x="8630713" y="433015"/>
                </a:lnTo>
                <a:cubicBezTo>
                  <a:pt x="8635870" y="429519"/>
                  <a:pt x="8700685" y="428411"/>
                  <a:pt x="8704240" y="422865"/>
                </a:cubicBezTo>
                <a:cubicBezTo>
                  <a:pt x="8761777" y="429549"/>
                  <a:pt x="8768302" y="427178"/>
                  <a:pt x="8829513" y="429389"/>
                </a:cubicBezTo>
                <a:cubicBezTo>
                  <a:pt x="8922895" y="444672"/>
                  <a:pt x="8924579" y="401507"/>
                  <a:pt x="9083651" y="390744"/>
                </a:cubicBezTo>
                <a:cubicBezTo>
                  <a:pt x="9138403" y="388032"/>
                  <a:pt x="9315003" y="378647"/>
                  <a:pt x="9371402" y="371809"/>
                </a:cubicBezTo>
                <a:cubicBezTo>
                  <a:pt x="9358632" y="337502"/>
                  <a:pt x="9402842" y="379364"/>
                  <a:pt x="9429586" y="369213"/>
                </a:cubicBezTo>
                <a:cubicBezTo>
                  <a:pt x="9449312" y="370213"/>
                  <a:pt x="9473938" y="373270"/>
                  <a:pt x="9489757" y="377814"/>
                </a:cubicBezTo>
                <a:cubicBezTo>
                  <a:pt x="9498164" y="379256"/>
                  <a:pt x="9507139" y="379272"/>
                  <a:pt x="9516954" y="376991"/>
                </a:cubicBezTo>
                <a:cubicBezTo>
                  <a:pt x="9548430" y="354766"/>
                  <a:pt x="9591874" y="370315"/>
                  <a:pt x="9645588" y="363590"/>
                </a:cubicBezTo>
                <a:cubicBezTo>
                  <a:pt x="9660487" y="368814"/>
                  <a:pt x="9710817" y="350550"/>
                  <a:pt x="9722896" y="360983"/>
                </a:cubicBezTo>
                <a:cubicBezTo>
                  <a:pt x="9733918" y="362239"/>
                  <a:pt x="9745201" y="356679"/>
                  <a:pt x="9752803" y="368492"/>
                </a:cubicBezTo>
                <a:cubicBezTo>
                  <a:pt x="9793268" y="374490"/>
                  <a:pt x="9843313" y="380978"/>
                  <a:pt x="9890305" y="380736"/>
                </a:cubicBezTo>
                <a:cubicBezTo>
                  <a:pt x="9912701" y="380083"/>
                  <a:pt x="9926523" y="379037"/>
                  <a:pt x="9939767" y="377776"/>
                </a:cubicBezTo>
                <a:lnTo>
                  <a:pt x="9944355" y="377352"/>
                </a:lnTo>
                <a:lnTo>
                  <a:pt x="9953719" y="375642"/>
                </a:lnTo>
                <a:lnTo>
                  <a:pt x="9955809" y="376294"/>
                </a:lnTo>
                <a:lnTo>
                  <a:pt x="10032710" y="394940"/>
                </a:lnTo>
                <a:lnTo>
                  <a:pt x="10049925" y="404971"/>
                </a:lnTo>
                <a:lnTo>
                  <a:pt x="10112671" y="414549"/>
                </a:lnTo>
                <a:cubicBezTo>
                  <a:pt x="10169643" y="412125"/>
                  <a:pt x="10132220" y="425358"/>
                  <a:pt x="10170853" y="435168"/>
                </a:cubicBezTo>
                <a:cubicBezTo>
                  <a:pt x="10206088" y="442020"/>
                  <a:pt x="10240809" y="454081"/>
                  <a:pt x="10290184" y="448123"/>
                </a:cubicBezTo>
                <a:cubicBezTo>
                  <a:pt x="10301813" y="444919"/>
                  <a:pt x="10315233" y="449499"/>
                  <a:pt x="10320158" y="458352"/>
                </a:cubicBezTo>
                <a:cubicBezTo>
                  <a:pt x="10321006" y="459876"/>
                  <a:pt x="10321565" y="461470"/>
                  <a:pt x="10321815" y="463087"/>
                </a:cubicBezTo>
                <a:cubicBezTo>
                  <a:pt x="10354058" y="457158"/>
                  <a:pt x="10355176" y="470634"/>
                  <a:pt x="10373742" y="464538"/>
                </a:cubicBezTo>
                <a:cubicBezTo>
                  <a:pt x="10403060" y="475292"/>
                  <a:pt x="10411841" y="497597"/>
                  <a:pt x="10428532" y="492504"/>
                </a:cubicBezTo>
                <a:cubicBezTo>
                  <a:pt x="10440561" y="500742"/>
                  <a:pt x="10446267" y="521930"/>
                  <a:pt x="10466490" y="517759"/>
                </a:cubicBezTo>
                <a:cubicBezTo>
                  <a:pt x="10464622" y="519986"/>
                  <a:pt x="10465013" y="521261"/>
                  <a:pt x="10466675" y="522076"/>
                </a:cubicBezTo>
                <a:lnTo>
                  <a:pt x="10470309" y="522792"/>
                </a:lnTo>
                <a:lnTo>
                  <a:pt x="10474138" y="519761"/>
                </a:lnTo>
                <a:cubicBezTo>
                  <a:pt x="10488888" y="509612"/>
                  <a:pt x="10484914" y="524734"/>
                  <a:pt x="10501100" y="528263"/>
                </a:cubicBezTo>
                <a:cubicBezTo>
                  <a:pt x="10508412" y="530705"/>
                  <a:pt x="10505426" y="533743"/>
                  <a:pt x="10502395" y="536393"/>
                </a:cubicBezTo>
                <a:lnTo>
                  <a:pt x="10689496" y="560233"/>
                </a:lnTo>
                <a:cubicBezTo>
                  <a:pt x="10721441" y="573640"/>
                  <a:pt x="10757547" y="582937"/>
                  <a:pt x="10788736" y="613188"/>
                </a:cubicBezTo>
                <a:cubicBezTo>
                  <a:pt x="10794510" y="621641"/>
                  <a:pt x="10807098" y="616073"/>
                  <a:pt x="10819747" y="621351"/>
                </a:cubicBezTo>
                <a:cubicBezTo>
                  <a:pt x="10832398" y="626630"/>
                  <a:pt x="10846356" y="639592"/>
                  <a:pt x="10864632" y="644858"/>
                </a:cubicBezTo>
                <a:cubicBezTo>
                  <a:pt x="10895617" y="652290"/>
                  <a:pt x="10921550" y="640451"/>
                  <a:pt x="10929407" y="652945"/>
                </a:cubicBezTo>
                <a:cubicBezTo>
                  <a:pt x="10945460" y="653176"/>
                  <a:pt x="10968148" y="640553"/>
                  <a:pt x="10979412" y="654217"/>
                </a:cubicBezTo>
                <a:cubicBezTo>
                  <a:pt x="10981679" y="643737"/>
                  <a:pt x="10997287" y="663414"/>
                  <a:pt x="11006959" y="657017"/>
                </a:cubicBezTo>
                <a:cubicBezTo>
                  <a:pt x="11023230" y="659396"/>
                  <a:pt x="11051890" y="662462"/>
                  <a:pt x="11077038" y="668487"/>
                </a:cubicBezTo>
                <a:cubicBezTo>
                  <a:pt x="11097000" y="690299"/>
                  <a:pt x="11141286" y="676399"/>
                  <a:pt x="11157850" y="693164"/>
                </a:cubicBezTo>
                <a:cubicBezTo>
                  <a:pt x="11163800" y="695757"/>
                  <a:pt x="11169599" y="696942"/>
                  <a:pt x="11175276" y="697243"/>
                </a:cubicBezTo>
                <a:lnTo>
                  <a:pt x="11191131" y="696085"/>
                </a:lnTo>
                <a:lnTo>
                  <a:pt x="11195573" y="691751"/>
                </a:lnTo>
                <a:lnTo>
                  <a:pt x="11205299" y="693247"/>
                </a:lnTo>
                <a:lnTo>
                  <a:pt x="11223770" y="690335"/>
                </a:lnTo>
                <a:cubicBezTo>
                  <a:pt x="11237778" y="693777"/>
                  <a:pt x="11256852" y="701947"/>
                  <a:pt x="11292119" y="713311"/>
                </a:cubicBezTo>
                <a:cubicBezTo>
                  <a:pt x="11334878" y="733451"/>
                  <a:pt x="11401662" y="729175"/>
                  <a:pt x="11435379" y="758519"/>
                </a:cubicBezTo>
                <a:lnTo>
                  <a:pt x="11604406" y="810476"/>
                </a:lnTo>
                <a:lnTo>
                  <a:pt x="11652155" y="825109"/>
                </a:lnTo>
                <a:lnTo>
                  <a:pt x="11654192" y="827301"/>
                </a:lnTo>
                <a:cubicBezTo>
                  <a:pt x="11661650" y="834729"/>
                  <a:pt x="11669215" y="841480"/>
                  <a:pt x="11676599" y="846628"/>
                </a:cubicBezTo>
                <a:cubicBezTo>
                  <a:pt x="11688258" y="861760"/>
                  <a:pt x="11752266" y="896888"/>
                  <a:pt x="11775168" y="890664"/>
                </a:cubicBezTo>
                <a:cubicBezTo>
                  <a:pt x="11790977" y="883819"/>
                  <a:pt x="11808364" y="879901"/>
                  <a:pt x="11826341" y="877558"/>
                </a:cubicBezTo>
                <a:lnTo>
                  <a:pt x="11879068" y="874038"/>
                </a:lnTo>
                <a:lnTo>
                  <a:pt x="11889563" y="878619"/>
                </a:lnTo>
                <a:lnTo>
                  <a:pt x="12016613" y="886111"/>
                </a:lnTo>
                <a:lnTo>
                  <a:pt x="12108292" y="868500"/>
                </a:lnTo>
                <a:cubicBezTo>
                  <a:pt x="12129725" y="867311"/>
                  <a:pt x="12157891" y="874537"/>
                  <a:pt x="12182910" y="882003"/>
                </a:cubicBezTo>
                <a:lnTo>
                  <a:pt x="12192000" y="884778"/>
                </a:lnTo>
                <a:lnTo>
                  <a:pt x="12192000" y="1610315"/>
                </a:lnTo>
                <a:lnTo>
                  <a:pt x="12191998" y="1610315"/>
                </a:lnTo>
                <a:lnTo>
                  <a:pt x="12191998" y="1924333"/>
                </a:lnTo>
                <a:lnTo>
                  <a:pt x="0" y="1924333"/>
                </a:lnTo>
                <a:lnTo>
                  <a:pt x="0" y="505159"/>
                </a:lnTo>
                <a:lnTo>
                  <a:pt x="5722" y="508889"/>
                </a:lnTo>
                <a:cubicBezTo>
                  <a:pt x="21614" y="518548"/>
                  <a:pt x="33814" y="524781"/>
                  <a:pt x="38476" y="524137"/>
                </a:cubicBezTo>
                <a:cubicBezTo>
                  <a:pt x="99229" y="544180"/>
                  <a:pt x="142010" y="538457"/>
                  <a:pt x="192883" y="545272"/>
                </a:cubicBezTo>
                <a:cubicBezTo>
                  <a:pt x="277629" y="525210"/>
                  <a:pt x="293434" y="558443"/>
                  <a:pt x="343710" y="565029"/>
                </a:cubicBezTo>
                <a:cubicBezTo>
                  <a:pt x="383094" y="555729"/>
                  <a:pt x="425462" y="556271"/>
                  <a:pt x="471066" y="549837"/>
                </a:cubicBezTo>
                <a:cubicBezTo>
                  <a:pt x="513583" y="544428"/>
                  <a:pt x="569194" y="531004"/>
                  <a:pt x="617333" y="526428"/>
                </a:cubicBezTo>
                <a:cubicBezTo>
                  <a:pt x="660031" y="520760"/>
                  <a:pt x="696675" y="523882"/>
                  <a:pt x="725203" y="523793"/>
                </a:cubicBezTo>
                <a:cubicBezTo>
                  <a:pt x="736650" y="521695"/>
                  <a:pt x="780513" y="502146"/>
                  <a:pt x="788494" y="505799"/>
                </a:cubicBezTo>
                <a:lnTo>
                  <a:pt x="885977" y="526585"/>
                </a:lnTo>
                <a:cubicBezTo>
                  <a:pt x="906140" y="522837"/>
                  <a:pt x="917203" y="532232"/>
                  <a:pt x="932142" y="528005"/>
                </a:cubicBezTo>
                <a:cubicBezTo>
                  <a:pt x="963701" y="524128"/>
                  <a:pt x="1061555" y="499582"/>
                  <a:pt x="1090404" y="498299"/>
                </a:cubicBezTo>
                <a:cubicBezTo>
                  <a:pt x="1132840" y="494057"/>
                  <a:pt x="1148476" y="496041"/>
                  <a:pt x="1188628" y="483151"/>
                </a:cubicBezTo>
                <a:cubicBezTo>
                  <a:pt x="1230397" y="468408"/>
                  <a:pt x="1278711" y="457638"/>
                  <a:pt x="1316247" y="425979"/>
                </a:cubicBezTo>
                <a:cubicBezTo>
                  <a:pt x="1322662" y="417251"/>
                  <a:pt x="1339433" y="418553"/>
                  <a:pt x="1357712" y="416549"/>
                </a:cubicBezTo>
                <a:cubicBezTo>
                  <a:pt x="1375991" y="414544"/>
                  <a:pt x="1423507" y="412949"/>
                  <a:pt x="1425921" y="413953"/>
                </a:cubicBezTo>
                <a:cubicBezTo>
                  <a:pt x="1450272" y="407937"/>
                  <a:pt x="1458223" y="388156"/>
                  <a:pt x="1503817" y="380457"/>
                </a:cubicBezTo>
                <a:cubicBezTo>
                  <a:pt x="1541095" y="377398"/>
                  <a:pt x="1605565" y="376357"/>
                  <a:pt x="1639196" y="372785"/>
                </a:cubicBezTo>
                <a:cubicBezTo>
                  <a:pt x="1653280" y="376736"/>
                  <a:pt x="1695289" y="365766"/>
                  <a:pt x="1705606" y="359023"/>
                </a:cubicBezTo>
                <a:cubicBezTo>
                  <a:pt x="1729169" y="336295"/>
                  <a:pt x="1793207" y="348537"/>
                  <a:pt x="1813011" y="331023"/>
                </a:cubicBezTo>
                <a:cubicBezTo>
                  <a:pt x="1820772" y="328179"/>
                  <a:pt x="1823566" y="341833"/>
                  <a:pt x="1831380" y="341307"/>
                </a:cubicBezTo>
                <a:lnTo>
                  <a:pt x="1858612" y="326777"/>
                </a:lnTo>
                <a:lnTo>
                  <a:pt x="1880661" y="335987"/>
                </a:lnTo>
                <a:lnTo>
                  <a:pt x="1941495" y="310792"/>
                </a:lnTo>
                <a:cubicBezTo>
                  <a:pt x="1978970" y="307223"/>
                  <a:pt x="1947391" y="291714"/>
                  <a:pt x="1995402" y="305480"/>
                </a:cubicBezTo>
                <a:cubicBezTo>
                  <a:pt x="2042464" y="298034"/>
                  <a:pt x="2153424" y="281146"/>
                  <a:pt x="2223864" y="266118"/>
                </a:cubicBezTo>
                <a:cubicBezTo>
                  <a:pt x="2261296" y="256300"/>
                  <a:pt x="2360518" y="238323"/>
                  <a:pt x="2418043" y="215314"/>
                </a:cubicBezTo>
                <a:cubicBezTo>
                  <a:pt x="2472088" y="206823"/>
                  <a:pt x="2499422" y="162612"/>
                  <a:pt x="2558461" y="168193"/>
                </a:cubicBezTo>
                <a:cubicBezTo>
                  <a:pt x="2559660" y="164506"/>
                  <a:pt x="2592244" y="161337"/>
                  <a:pt x="2595535" y="158548"/>
                </a:cubicBezTo>
                <a:lnTo>
                  <a:pt x="2626942" y="130400"/>
                </a:lnTo>
                <a:lnTo>
                  <a:pt x="2632225" y="130446"/>
                </a:lnTo>
                <a:lnTo>
                  <a:pt x="2696856" y="128498"/>
                </a:lnTo>
                <a:lnTo>
                  <a:pt x="2759767" y="127784"/>
                </a:lnTo>
                <a:cubicBezTo>
                  <a:pt x="2770024" y="123546"/>
                  <a:pt x="2781047" y="119463"/>
                  <a:pt x="2792685" y="115710"/>
                </a:cubicBezTo>
                <a:lnTo>
                  <a:pt x="2799767" y="113754"/>
                </a:lnTo>
                <a:lnTo>
                  <a:pt x="2829799" y="120042"/>
                </a:lnTo>
                <a:lnTo>
                  <a:pt x="2890704" y="121493"/>
                </a:lnTo>
                <a:cubicBezTo>
                  <a:pt x="2935390" y="121035"/>
                  <a:pt x="2990780" y="113193"/>
                  <a:pt x="3042646" y="112273"/>
                </a:cubicBezTo>
                <a:cubicBezTo>
                  <a:pt x="3077119" y="111474"/>
                  <a:pt x="3124089" y="100414"/>
                  <a:pt x="3146630" y="100898"/>
                </a:cubicBezTo>
                <a:cubicBezTo>
                  <a:pt x="3169381" y="117699"/>
                  <a:pt x="3224695" y="125864"/>
                  <a:pt x="3233163" y="120200"/>
                </a:cubicBezTo>
                <a:lnTo>
                  <a:pt x="3372699" y="129394"/>
                </a:lnTo>
                <a:cubicBezTo>
                  <a:pt x="3389020" y="126586"/>
                  <a:pt x="3397563" y="116804"/>
                  <a:pt x="3394352" y="131671"/>
                </a:cubicBezTo>
                <a:cubicBezTo>
                  <a:pt x="3406102" y="131485"/>
                  <a:pt x="3429770" y="120938"/>
                  <a:pt x="3448218" y="118229"/>
                </a:cubicBezTo>
                <a:lnTo>
                  <a:pt x="3505047" y="115412"/>
                </a:lnTo>
                <a:lnTo>
                  <a:pt x="3521767" y="111071"/>
                </a:lnTo>
                <a:cubicBezTo>
                  <a:pt x="3526335" y="108877"/>
                  <a:pt x="3582156" y="117732"/>
                  <a:pt x="3585137" y="114371"/>
                </a:cubicBezTo>
                <a:cubicBezTo>
                  <a:pt x="3638265" y="102098"/>
                  <a:pt x="3633789" y="98565"/>
                  <a:pt x="3690293" y="98301"/>
                </a:cubicBezTo>
                <a:cubicBezTo>
                  <a:pt x="3782197" y="112746"/>
                  <a:pt x="3826738" y="92943"/>
                  <a:pt x="3867818" y="88985"/>
                </a:cubicBezTo>
                <a:cubicBezTo>
                  <a:pt x="3943777" y="81477"/>
                  <a:pt x="3990501" y="75194"/>
                  <a:pt x="4091337" y="70813"/>
                </a:cubicBezTo>
                <a:cubicBezTo>
                  <a:pt x="4154422" y="62932"/>
                  <a:pt x="4217060" y="45734"/>
                  <a:pt x="4246332" y="41697"/>
                </a:cubicBezTo>
                <a:cubicBezTo>
                  <a:pt x="4253308" y="42804"/>
                  <a:pt x="4260125" y="44606"/>
                  <a:pt x="4266975" y="46592"/>
                </a:cubicBezTo>
                <a:lnTo>
                  <a:pt x="4270566" y="47620"/>
                </a:lnTo>
                <a:lnTo>
                  <a:pt x="4288964" y="52766"/>
                </a:lnTo>
                <a:lnTo>
                  <a:pt x="4365137" y="51783"/>
                </a:lnTo>
                <a:lnTo>
                  <a:pt x="4430546" y="44555"/>
                </a:lnTo>
                <a:lnTo>
                  <a:pt x="4444136" y="39567"/>
                </a:lnTo>
                <a:lnTo>
                  <a:pt x="4534039" y="31604"/>
                </a:lnTo>
                <a:lnTo>
                  <a:pt x="4560448" y="25231"/>
                </a:lnTo>
                <a:lnTo>
                  <a:pt x="4568006" y="25970"/>
                </a:lnTo>
                <a:cubicBezTo>
                  <a:pt x="4580278" y="23866"/>
                  <a:pt x="4594878" y="14904"/>
                  <a:pt x="4595497" y="22958"/>
                </a:cubicBezTo>
                <a:lnTo>
                  <a:pt x="4608623" y="18108"/>
                </a:lnTo>
                <a:lnTo>
                  <a:pt x="4623942" y="22251"/>
                </a:lnTo>
                <a:cubicBezTo>
                  <a:pt x="4633227" y="23117"/>
                  <a:pt x="4655429" y="23973"/>
                  <a:pt x="4664336" y="23306"/>
                </a:cubicBezTo>
                <a:lnTo>
                  <a:pt x="4677385" y="18246"/>
                </a:lnTo>
                <a:lnTo>
                  <a:pt x="4698143" y="18036"/>
                </a:lnTo>
                <a:cubicBezTo>
                  <a:pt x="4710347" y="18931"/>
                  <a:pt x="4736189" y="22441"/>
                  <a:pt x="4750609" y="23611"/>
                </a:cubicBezTo>
                <a:cubicBezTo>
                  <a:pt x="4764270" y="27424"/>
                  <a:pt x="4774858" y="29782"/>
                  <a:pt x="4784658" y="25057"/>
                </a:cubicBezTo>
                <a:cubicBezTo>
                  <a:pt x="4804708" y="29613"/>
                  <a:pt x="4822811" y="48263"/>
                  <a:pt x="4847558" y="38726"/>
                </a:cubicBezTo>
                <a:cubicBezTo>
                  <a:pt x="4868304" y="42993"/>
                  <a:pt x="4867190" y="47939"/>
                  <a:pt x="4909134" y="50659"/>
                </a:cubicBezTo>
                <a:cubicBezTo>
                  <a:pt x="4945026" y="52455"/>
                  <a:pt x="5063406" y="54096"/>
                  <a:pt x="5099219" y="55050"/>
                </a:cubicBezTo>
                <a:cubicBezTo>
                  <a:pt x="5145195" y="57873"/>
                  <a:pt x="5163254" y="65473"/>
                  <a:pt x="5184992" y="67596"/>
                </a:cubicBezTo>
                <a:cubicBezTo>
                  <a:pt x="5206728" y="69720"/>
                  <a:pt x="5195578" y="65687"/>
                  <a:pt x="5229637" y="67789"/>
                </a:cubicBezTo>
                <a:cubicBezTo>
                  <a:pt x="5263695" y="69892"/>
                  <a:pt x="5345217" y="78854"/>
                  <a:pt x="5389346" y="80211"/>
                </a:cubicBezTo>
                <a:cubicBezTo>
                  <a:pt x="5425889" y="83191"/>
                  <a:pt x="5461943" y="84751"/>
                  <a:pt x="5494414" y="75926"/>
                </a:cubicBezTo>
                <a:lnTo>
                  <a:pt x="5528443" y="77206"/>
                </a:lnTo>
                <a:cubicBezTo>
                  <a:pt x="5582723" y="71370"/>
                  <a:pt x="5638917" y="68385"/>
                  <a:pt x="5684939" y="50269"/>
                </a:cubicBezTo>
                <a:cubicBezTo>
                  <a:pt x="5724389" y="45804"/>
                  <a:pt x="5737860" y="52916"/>
                  <a:pt x="5765146" y="50414"/>
                </a:cubicBezTo>
                <a:cubicBezTo>
                  <a:pt x="5792695" y="43060"/>
                  <a:pt x="5827352" y="38097"/>
                  <a:pt x="5848655" y="35257"/>
                </a:cubicBezTo>
                <a:lnTo>
                  <a:pt x="5930656" y="30131"/>
                </a:lnTo>
                <a:lnTo>
                  <a:pt x="6124150" y="31679"/>
                </a:lnTo>
                <a:cubicBezTo>
                  <a:pt x="6138131" y="22216"/>
                  <a:pt x="6167730" y="4075"/>
                  <a:pt x="6189199" y="588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3D39B5-136F-06A5-9B5A-6A04ABECD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5" y="5279511"/>
            <a:ext cx="7261411" cy="7398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Folder Structure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FF4421-54B3-319A-33BF-2A7E32A1E24A}"/>
              </a:ext>
            </a:extLst>
          </p:cNvPr>
          <p:cNvSpPr txBox="1"/>
          <p:nvPr/>
        </p:nvSpPr>
        <p:spPr>
          <a:xfrm>
            <a:off x="1819835" y="6019391"/>
            <a:ext cx="5486399" cy="3369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ts val="1000"/>
              </a:spcBef>
            </a:pPr>
            <a:r>
              <a:rPr lang="en-US"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  <a:hlinkClick r:id="rId2"/>
              </a:rPr>
              <a:t>GitHub</a:t>
            </a:r>
            <a:endParaRPr lang="en-US" sz="1400" kern="120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9475904-79B1-CDF1-C176-F9A217D64E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66302" y="579473"/>
            <a:ext cx="7411394" cy="4224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812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9" name="Rectangle 2068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329184"/>
            <a:ext cx="5170932" cy="1783080"/>
          </a:xfrm>
        </p:spPr>
        <p:txBody>
          <a:bodyPr anchor="b"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 Background</a:t>
            </a:r>
          </a:p>
        </p:txBody>
      </p:sp>
      <p:sp>
        <p:nvSpPr>
          <p:cNvPr id="2070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214" y="2395728"/>
            <a:ext cx="3182691" cy="18288"/>
          </a:xfrm>
          <a:custGeom>
            <a:avLst/>
            <a:gdLst>
              <a:gd name="connsiteX0" fmla="*/ 0 w 3182691"/>
              <a:gd name="connsiteY0" fmla="*/ 0 h 18288"/>
              <a:gd name="connsiteX1" fmla="*/ 636538 w 3182691"/>
              <a:gd name="connsiteY1" fmla="*/ 0 h 18288"/>
              <a:gd name="connsiteX2" fmla="*/ 1273076 w 3182691"/>
              <a:gd name="connsiteY2" fmla="*/ 0 h 18288"/>
              <a:gd name="connsiteX3" fmla="*/ 1909615 w 3182691"/>
              <a:gd name="connsiteY3" fmla="*/ 0 h 18288"/>
              <a:gd name="connsiteX4" fmla="*/ 2482499 w 3182691"/>
              <a:gd name="connsiteY4" fmla="*/ 0 h 18288"/>
              <a:gd name="connsiteX5" fmla="*/ 3182691 w 3182691"/>
              <a:gd name="connsiteY5" fmla="*/ 0 h 18288"/>
              <a:gd name="connsiteX6" fmla="*/ 3182691 w 3182691"/>
              <a:gd name="connsiteY6" fmla="*/ 18288 h 18288"/>
              <a:gd name="connsiteX7" fmla="*/ 2609807 w 3182691"/>
              <a:gd name="connsiteY7" fmla="*/ 18288 h 18288"/>
              <a:gd name="connsiteX8" fmla="*/ 2068749 w 3182691"/>
              <a:gd name="connsiteY8" fmla="*/ 18288 h 18288"/>
              <a:gd name="connsiteX9" fmla="*/ 1432211 w 3182691"/>
              <a:gd name="connsiteY9" fmla="*/ 18288 h 18288"/>
              <a:gd name="connsiteX10" fmla="*/ 859327 w 3182691"/>
              <a:gd name="connsiteY10" fmla="*/ 18288 h 18288"/>
              <a:gd name="connsiteX11" fmla="*/ 0 w 3182691"/>
              <a:gd name="connsiteY11" fmla="*/ 18288 h 18288"/>
              <a:gd name="connsiteX12" fmla="*/ 0 w 3182691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82691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13406" y="3458"/>
                  <a:pt x="1273076" y="0"/>
                </a:cubicBezTo>
                <a:cubicBezTo>
                  <a:pt x="1532746" y="-3458"/>
                  <a:pt x="1697408" y="-16840"/>
                  <a:pt x="1909615" y="0"/>
                </a:cubicBezTo>
                <a:cubicBezTo>
                  <a:pt x="2121822" y="16840"/>
                  <a:pt x="2213494" y="-18555"/>
                  <a:pt x="2482499" y="0"/>
                </a:cubicBezTo>
                <a:cubicBezTo>
                  <a:pt x="2751504" y="18555"/>
                  <a:pt x="3004132" y="-28750"/>
                  <a:pt x="3182691" y="0"/>
                </a:cubicBezTo>
                <a:cubicBezTo>
                  <a:pt x="3183133" y="4516"/>
                  <a:pt x="3181864" y="12266"/>
                  <a:pt x="3182691" y="18288"/>
                </a:cubicBezTo>
                <a:cubicBezTo>
                  <a:pt x="2947041" y="16687"/>
                  <a:pt x="2875741" y="22937"/>
                  <a:pt x="2609807" y="18288"/>
                </a:cubicBezTo>
                <a:cubicBezTo>
                  <a:pt x="2343873" y="13639"/>
                  <a:pt x="2331203" y="31729"/>
                  <a:pt x="2068749" y="18288"/>
                </a:cubicBezTo>
                <a:cubicBezTo>
                  <a:pt x="1806295" y="4847"/>
                  <a:pt x="1713773" y="47088"/>
                  <a:pt x="1432211" y="18288"/>
                </a:cubicBezTo>
                <a:cubicBezTo>
                  <a:pt x="1150649" y="-10512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1" h="18288" stroke="0" extrusionOk="0">
                <a:moveTo>
                  <a:pt x="0" y="0"/>
                </a:moveTo>
                <a:cubicBezTo>
                  <a:pt x="247695" y="-19360"/>
                  <a:pt x="392581" y="-28596"/>
                  <a:pt x="572884" y="0"/>
                </a:cubicBezTo>
                <a:cubicBezTo>
                  <a:pt x="753187" y="28596"/>
                  <a:pt x="922042" y="4121"/>
                  <a:pt x="1113942" y="0"/>
                </a:cubicBezTo>
                <a:cubicBezTo>
                  <a:pt x="1305842" y="-4121"/>
                  <a:pt x="1501806" y="28092"/>
                  <a:pt x="1686826" y="0"/>
                </a:cubicBezTo>
                <a:cubicBezTo>
                  <a:pt x="1871846" y="-28092"/>
                  <a:pt x="2170181" y="-20672"/>
                  <a:pt x="2323364" y="0"/>
                </a:cubicBezTo>
                <a:cubicBezTo>
                  <a:pt x="2476547" y="20672"/>
                  <a:pt x="2919163" y="6097"/>
                  <a:pt x="3182691" y="0"/>
                </a:cubicBezTo>
                <a:cubicBezTo>
                  <a:pt x="3183268" y="4624"/>
                  <a:pt x="3183510" y="11191"/>
                  <a:pt x="3182691" y="18288"/>
                </a:cubicBezTo>
                <a:cubicBezTo>
                  <a:pt x="3026064" y="-10849"/>
                  <a:pt x="2775005" y="23067"/>
                  <a:pt x="2546153" y="18288"/>
                </a:cubicBezTo>
                <a:cubicBezTo>
                  <a:pt x="2317301" y="13509"/>
                  <a:pt x="2164351" y="-9884"/>
                  <a:pt x="1845961" y="18288"/>
                </a:cubicBezTo>
                <a:cubicBezTo>
                  <a:pt x="1527571" y="46460"/>
                  <a:pt x="1455006" y="5824"/>
                  <a:pt x="1304903" y="18288"/>
                </a:cubicBezTo>
                <a:cubicBezTo>
                  <a:pt x="1154800" y="30752"/>
                  <a:pt x="942107" y="-12056"/>
                  <a:pt x="604711" y="18288"/>
                </a:cubicBezTo>
                <a:cubicBezTo>
                  <a:pt x="267315" y="48632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083" y="2706624"/>
            <a:ext cx="6389649" cy="3921215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  <a:defRPr sz="1800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🎓 Master of Science in Applied Data Science</a:t>
            </a:r>
          </a:p>
          <a:p>
            <a:pPr>
              <a:lnSpc>
                <a:spcPct val="90000"/>
              </a:lnSpc>
              <a:defRPr sz="1800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Syracuse University, NY (Aug 2023 – May 2025)</a:t>
            </a:r>
          </a:p>
          <a:p>
            <a:pPr>
              <a:lnSpc>
                <a:spcPct val="90000"/>
              </a:lnSpc>
              <a:defRPr sz="1800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GPA: 3.9/4.0</a:t>
            </a:r>
          </a:p>
          <a:p>
            <a:pPr>
              <a:lnSpc>
                <a:spcPct val="90000"/>
              </a:lnSpc>
              <a:defRPr sz="1800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Focus: Data Engineering, Machine Learning, Big Data, Cloud Computing</a:t>
            </a:r>
          </a:p>
          <a:p>
            <a:pPr marL="0" indent="0">
              <a:lnSpc>
                <a:spcPct val="90000"/>
              </a:lnSpc>
              <a:buNone/>
              <a:defRPr sz="1800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  <a:defRPr sz="1800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🎓 Bachelor of Engineering in Electronics and Telecommunication</a:t>
            </a:r>
          </a:p>
          <a:p>
            <a:pPr>
              <a:lnSpc>
                <a:spcPct val="90000"/>
              </a:lnSpc>
              <a:defRPr sz="1800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Mumbai,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Vidyalankar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Institute of Technology (Jul 2015 – May 2019)</a:t>
            </a:r>
          </a:p>
          <a:p>
            <a:pPr>
              <a:lnSpc>
                <a:spcPct val="90000"/>
              </a:lnSpc>
              <a:defRPr sz="1800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GPA: 3.0/4.0</a:t>
            </a:r>
          </a:p>
          <a:p>
            <a:pPr>
              <a:lnSpc>
                <a:spcPct val="90000"/>
              </a:lnSpc>
              <a:defRPr sz="1800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Projects: Drone-based mapping using LiDAR, Raspberry Pi integration, ROS</a:t>
            </a:r>
          </a:p>
          <a:p>
            <a:pPr>
              <a:lnSpc>
                <a:spcPct val="90000"/>
              </a:lnSpc>
              <a:defRPr sz="1800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foundation in programming, control systems, and signal processing</a:t>
            </a:r>
          </a:p>
        </p:txBody>
      </p:sp>
      <p:pic>
        <p:nvPicPr>
          <p:cNvPr id="2052" name="Picture 4" descr="University Department of Information Technology">
            <a:extLst>
              <a:ext uri="{FF2B5EF4-FFF2-40B4-BE49-F238E27FC236}">
                <a16:creationId xmlns:a16="http://schemas.microsoft.com/office/drawing/2014/main" id="{E2715CEA-E57C-7056-704B-36424EF764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42112" y="329184"/>
            <a:ext cx="2198639" cy="2770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Syracuse Orange Logo and symbol, meaning, history, PNG, brand">
            <a:extLst>
              <a:ext uri="{FF2B5EF4-FFF2-40B4-BE49-F238E27FC236}">
                <a16:creationId xmlns:a16="http://schemas.microsoft.com/office/drawing/2014/main" id="{CF343205-5D1C-7A53-AD91-5D050CE0A6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39829" y="3619893"/>
            <a:ext cx="4003004" cy="2251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D7F64A8-D625-4F61-A290-B499BB62A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1645" y="172172"/>
            <a:ext cx="6098424" cy="1012029"/>
          </a:xfrm>
        </p:spPr>
        <p:txBody>
          <a:bodyPr anchor="b">
            <a:noAutofit/>
          </a:bodyPr>
          <a:lstStyle/>
          <a:p>
            <a:pPr algn="l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Professional Experience</a:t>
            </a:r>
          </a:p>
        </p:txBody>
      </p:sp>
      <p:pic>
        <p:nvPicPr>
          <p:cNvPr id="7" name="Graphic 6" descr="Programmer">
            <a:extLst>
              <a:ext uri="{FF2B5EF4-FFF2-40B4-BE49-F238E27FC236}">
                <a16:creationId xmlns:a16="http://schemas.microsoft.com/office/drawing/2014/main" id="{0B4561CF-75E1-3559-5F5A-450CA9B009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5081" y="284766"/>
            <a:ext cx="898899" cy="898899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6407" y="1854102"/>
            <a:ext cx="5677420" cy="2252546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  <a:defRPr sz="1800"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BioMarin Pharmaceutical Inc. (Data Science Intern)</a:t>
            </a:r>
          </a:p>
          <a:p>
            <a:pPr algn="just">
              <a:lnSpc>
                <a:spcPct val="90000"/>
              </a:lnSpc>
              <a:defRPr sz="1800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Migrated Excel risk data into SQL Server with audit triggers</a:t>
            </a:r>
          </a:p>
          <a:p>
            <a:pPr algn="just">
              <a:lnSpc>
                <a:spcPct val="90000"/>
              </a:lnSpc>
              <a:defRPr sz="1800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Built PowerApps UI for data entry and role-based access</a:t>
            </a:r>
          </a:p>
          <a:p>
            <a:pPr algn="just">
              <a:lnSpc>
                <a:spcPct val="90000"/>
              </a:lnSpc>
              <a:defRPr sz="1800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Improved data accuracy by 20% and user satisfaction by 35%</a:t>
            </a:r>
          </a:p>
          <a:p>
            <a:pPr>
              <a:lnSpc>
                <a:spcPct val="90000"/>
              </a:lnSpc>
              <a:defRPr sz="1800"/>
            </a:pP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  <a:defRPr sz="1800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Accenture (Data Engineering Analyst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90000"/>
              </a:lnSpc>
              <a:defRPr sz="1800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ETL pipelines using Informatica and shell scripts</a:t>
            </a:r>
          </a:p>
          <a:p>
            <a:pPr>
              <a:lnSpc>
                <a:spcPct val="90000"/>
              </a:lnSpc>
              <a:defRPr sz="1800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processing time by 30% via automation and tuning</a:t>
            </a:r>
          </a:p>
          <a:p>
            <a:pPr>
              <a:lnSpc>
                <a:spcPct val="90000"/>
              </a:lnSpc>
              <a:defRPr sz="1800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Collaborated on data warehouse migrations and performance tuning</a:t>
            </a:r>
          </a:p>
          <a:p>
            <a:pPr marL="0" indent="0">
              <a:lnSpc>
                <a:spcPct val="90000"/>
              </a:lnSpc>
              <a:buNone/>
              <a:defRPr sz="1800"/>
            </a:pP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Graphic 8" descr="Programmer">
            <a:extLst>
              <a:ext uri="{FF2B5EF4-FFF2-40B4-BE49-F238E27FC236}">
                <a16:creationId xmlns:a16="http://schemas.microsoft.com/office/drawing/2014/main" id="{DAE9A9A2-8797-41EC-B11B-FFFCEA2BF9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81073" y="1469503"/>
            <a:ext cx="3918995" cy="39189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09F837-26AD-2521-BC2F-B8E17961E2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" b="5438"/>
          <a:stretch/>
        </p:blipFill>
        <p:spPr>
          <a:xfrm>
            <a:off x="2654968" y="0"/>
            <a:ext cx="6733382" cy="835564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542696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365124"/>
            <a:ext cx="6211229" cy="2032387"/>
          </a:xfrm>
        </p:spPr>
        <p:txBody>
          <a:bodyPr>
            <a:no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1: Cloud Management – IST615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8781" y="3252867"/>
            <a:ext cx="5742878" cy="2617301"/>
          </a:xfrm>
        </p:spPr>
        <p:txBody>
          <a:bodyPr>
            <a:normAutofit/>
          </a:bodyPr>
          <a:lstStyle/>
          <a:p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cloud-native workflows using AWS Lambda, Azure Functions</a:t>
            </a:r>
          </a:p>
          <a:p>
            <a:pPr>
              <a:defRPr sz="1800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role-based access controls and optimized cloud spend</a:t>
            </a:r>
          </a:p>
          <a:p>
            <a:pPr>
              <a:defRPr sz="1800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Showcased scalability and cost-efficiency using serverless architecture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614" y="942573"/>
            <a:ext cx="3470422" cy="5717573"/>
          </a:xfrm>
        </p:spPr>
        <p:txBody>
          <a:bodyPr>
            <a:normAutofit/>
          </a:bodyPr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2: Data Warehouse – IST722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EEF4A0D-3E53-3CF5-F51D-6C5D3F2D48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9272383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7242" y="1138036"/>
            <a:ext cx="4597617" cy="2030737"/>
          </a:xfrm>
        </p:spPr>
        <p:txBody>
          <a:bodyPr anchor="t">
            <a:no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3: DBMS Travel App – IST659</a:t>
            </a:r>
          </a:p>
        </p:txBody>
      </p:sp>
      <p:pic>
        <p:nvPicPr>
          <p:cNvPr id="5" name="Picture 4" descr="Mobile device with apps">
            <a:extLst>
              <a:ext uri="{FF2B5EF4-FFF2-40B4-BE49-F238E27FC236}">
                <a16:creationId xmlns:a16="http://schemas.microsoft.com/office/drawing/2014/main" id="{42C45E07-0BCA-6397-A174-17E68B0D60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942" r="14371"/>
          <a:stretch/>
        </p:blipFill>
        <p:spPr>
          <a:xfrm>
            <a:off x="20" y="10"/>
            <a:ext cx="3863363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478772" y="871146"/>
            <a:ext cx="552705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14420" y="3435662"/>
            <a:ext cx="5129560" cy="4061497"/>
          </a:xfrm>
        </p:spPr>
        <p:txBody>
          <a:bodyPr>
            <a:normAutofit/>
          </a:bodyPr>
          <a:lstStyle/>
          <a:p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ER diagrams and normalized schemas</a:t>
            </a:r>
          </a:p>
          <a:p>
            <a:pPr>
              <a:defRPr sz="1800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CRUD operations with PowerApps interface</a:t>
            </a:r>
          </a:p>
          <a:p>
            <a:pPr>
              <a:defRPr sz="1800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Enabled managers to review and act on travel bookings interactively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Autofit/>
          </a:bodyPr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4: Energy Forecasting – IST687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FAA75DE-7022-7AEA-5C27-3681E4E6C5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1210853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300191"/>
            <a:ext cx="3502573" cy="1982019"/>
          </a:xfrm>
        </p:spPr>
        <p:txBody>
          <a:bodyPr anchor="b"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Skills &amp; Certifications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60" y="2586994"/>
            <a:ext cx="2606040" cy="18288"/>
          </a:xfrm>
          <a:custGeom>
            <a:avLst/>
            <a:gdLst>
              <a:gd name="connsiteX0" fmla="*/ 0 w 2606040"/>
              <a:gd name="connsiteY0" fmla="*/ 0 h 18288"/>
              <a:gd name="connsiteX1" fmla="*/ 625450 w 2606040"/>
              <a:gd name="connsiteY1" fmla="*/ 0 h 18288"/>
              <a:gd name="connsiteX2" fmla="*/ 1224839 w 2606040"/>
              <a:gd name="connsiteY2" fmla="*/ 0 h 18288"/>
              <a:gd name="connsiteX3" fmla="*/ 1824228 w 2606040"/>
              <a:gd name="connsiteY3" fmla="*/ 0 h 18288"/>
              <a:gd name="connsiteX4" fmla="*/ 2606040 w 2606040"/>
              <a:gd name="connsiteY4" fmla="*/ 0 h 18288"/>
              <a:gd name="connsiteX5" fmla="*/ 2606040 w 2606040"/>
              <a:gd name="connsiteY5" fmla="*/ 18288 h 18288"/>
              <a:gd name="connsiteX6" fmla="*/ 1902409 w 2606040"/>
              <a:gd name="connsiteY6" fmla="*/ 18288 h 18288"/>
              <a:gd name="connsiteX7" fmla="*/ 1276960 w 2606040"/>
              <a:gd name="connsiteY7" fmla="*/ 18288 h 18288"/>
              <a:gd name="connsiteX8" fmla="*/ 677570 w 2606040"/>
              <a:gd name="connsiteY8" fmla="*/ 18288 h 18288"/>
              <a:gd name="connsiteX9" fmla="*/ 0 w 2606040"/>
              <a:gd name="connsiteY9" fmla="*/ 18288 h 18288"/>
              <a:gd name="connsiteX10" fmla="*/ 0 w 2606040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606040" h="18288" fill="none" extrusionOk="0">
                <a:moveTo>
                  <a:pt x="0" y="0"/>
                </a:moveTo>
                <a:cubicBezTo>
                  <a:pt x="266776" y="-600"/>
                  <a:pt x="322756" y="3201"/>
                  <a:pt x="625450" y="0"/>
                </a:cubicBezTo>
                <a:cubicBezTo>
                  <a:pt x="928144" y="-3201"/>
                  <a:pt x="968141" y="9269"/>
                  <a:pt x="1224839" y="0"/>
                </a:cubicBezTo>
                <a:cubicBezTo>
                  <a:pt x="1481537" y="-9269"/>
                  <a:pt x="1569059" y="21947"/>
                  <a:pt x="1824228" y="0"/>
                </a:cubicBezTo>
                <a:cubicBezTo>
                  <a:pt x="2079397" y="-21947"/>
                  <a:pt x="2326053" y="-10194"/>
                  <a:pt x="2606040" y="0"/>
                </a:cubicBezTo>
                <a:cubicBezTo>
                  <a:pt x="2605462" y="4771"/>
                  <a:pt x="2606793" y="12323"/>
                  <a:pt x="2606040" y="18288"/>
                </a:cubicBezTo>
                <a:cubicBezTo>
                  <a:pt x="2256758" y="31410"/>
                  <a:pt x="2173673" y="-12878"/>
                  <a:pt x="1902409" y="18288"/>
                </a:cubicBezTo>
                <a:cubicBezTo>
                  <a:pt x="1631145" y="49454"/>
                  <a:pt x="1461378" y="5466"/>
                  <a:pt x="1276960" y="18288"/>
                </a:cubicBezTo>
                <a:cubicBezTo>
                  <a:pt x="1092542" y="31110"/>
                  <a:pt x="890442" y="13213"/>
                  <a:pt x="677570" y="18288"/>
                </a:cubicBezTo>
                <a:cubicBezTo>
                  <a:pt x="464698" y="23364"/>
                  <a:pt x="187648" y="35837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606040" h="18288" stroke="0" extrusionOk="0">
                <a:moveTo>
                  <a:pt x="0" y="0"/>
                </a:moveTo>
                <a:cubicBezTo>
                  <a:pt x="197231" y="3803"/>
                  <a:pt x="358914" y="-9291"/>
                  <a:pt x="599389" y="0"/>
                </a:cubicBezTo>
                <a:cubicBezTo>
                  <a:pt x="839864" y="9291"/>
                  <a:pt x="979371" y="8509"/>
                  <a:pt x="1303020" y="0"/>
                </a:cubicBezTo>
                <a:cubicBezTo>
                  <a:pt x="1626669" y="-8509"/>
                  <a:pt x="1726300" y="7440"/>
                  <a:pt x="1876349" y="0"/>
                </a:cubicBezTo>
                <a:cubicBezTo>
                  <a:pt x="2026398" y="-7440"/>
                  <a:pt x="2430712" y="17957"/>
                  <a:pt x="2606040" y="0"/>
                </a:cubicBezTo>
                <a:cubicBezTo>
                  <a:pt x="2605426" y="8857"/>
                  <a:pt x="2606544" y="13619"/>
                  <a:pt x="2606040" y="18288"/>
                </a:cubicBezTo>
                <a:cubicBezTo>
                  <a:pt x="2393024" y="2241"/>
                  <a:pt x="2191161" y="39259"/>
                  <a:pt x="1980590" y="18288"/>
                </a:cubicBezTo>
                <a:cubicBezTo>
                  <a:pt x="1770019" y="-2683"/>
                  <a:pt x="1476440" y="36114"/>
                  <a:pt x="1276960" y="18288"/>
                </a:cubicBezTo>
                <a:cubicBezTo>
                  <a:pt x="1077480" y="463"/>
                  <a:pt x="880988" y="42125"/>
                  <a:pt x="651510" y="18288"/>
                </a:cubicBezTo>
                <a:cubicBezTo>
                  <a:pt x="422032" y="-5549"/>
                  <a:pt x="130744" y="-1947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" y="2872898"/>
            <a:ext cx="3400564" cy="3527901"/>
          </a:xfrm>
        </p:spPr>
        <p:txBody>
          <a:bodyPr>
            <a:normAutofit/>
          </a:bodyPr>
          <a:lstStyle/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Languages: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Python, SQL, R, Shell Scripting</a:t>
            </a:r>
          </a:p>
          <a:p>
            <a:pPr>
              <a:defRPr sz="1800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SSMS, Git, Docker, PowerApps</a:t>
            </a:r>
          </a:p>
          <a:p>
            <a:pPr>
              <a:defRPr sz="1800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AWS (certification in progress), Azure (certified)</a:t>
            </a:r>
          </a:p>
          <a:p>
            <a:pPr>
              <a:defRPr sz="1800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Spark, Kafka, Snowflake, Informatica</a:t>
            </a:r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E436DC53-7CC7-2FB9-A979-680D886E87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06" r="44779" b="-1"/>
          <a:stretch/>
        </p:blipFill>
        <p:spPr>
          <a:xfrm>
            <a:off x="3983776" y="10"/>
            <a:ext cx="5159081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4168866" cy="1325563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5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4168866" cy="4351338"/>
          </a:xfrm>
        </p:spPr>
        <p:txBody>
          <a:bodyPr>
            <a:normAutofit/>
          </a:bodyPr>
          <a:lstStyle/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to solve real-world challenges through data</a:t>
            </a:r>
          </a:p>
          <a:p>
            <a:pPr>
              <a:defRPr sz="18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Combining strong engineering with ethical responsibility</a:t>
            </a:r>
          </a:p>
          <a:p>
            <a:pPr>
              <a:defRPr sz="18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Eager to grow, collaborate, and innovate in future roles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2624479"/>
            <a:ext cx="609320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Block Arc 78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85863" y="1516981"/>
            <a:ext cx="2387600" cy="17907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0"/>
            <a:ext cx="1736438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9347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Freeform: Shape 84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54162" y="4112081"/>
            <a:ext cx="889838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7" name="Arc 86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4565205" y="4145122"/>
            <a:ext cx="3062574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4962670"/>
            <a:ext cx="1982514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458</Words>
  <Application>Microsoft Macintosh PowerPoint</Application>
  <PresentationFormat>On-screen Show (4:3)</PresentationFormat>
  <Paragraphs>81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Introduction</vt:lpstr>
      <vt:lpstr>Portfolio Outlook</vt:lpstr>
      <vt:lpstr>Folder Structure</vt:lpstr>
      <vt:lpstr>Education Background</vt:lpstr>
      <vt:lpstr>Professional Experience</vt:lpstr>
      <vt:lpstr>Project 1: Cloud Management – IST615</vt:lpstr>
      <vt:lpstr>Project 2: Data Warehouse – IST722</vt:lpstr>
      <vt:lpstr>Project 3: DBMS Travel App – IST659</vt:lpstr>
      <vt:lpstr>Project 4: Energy Forecasting – IST687</vt:lpstr>
      <vt:lpstr>Skills &amp; Certifications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Ayush Thoniparambil Saseendran</cp:lastModifiedBy>
  <cp:revision>2</cp:revision>
  <dcterms:created xsi:type="dcterms:W3CDTF">2013-01-27T09:14:16Z</dcterms:created>
  <dcterms:modified xsi:type="dcterms:W3CDTF">2025-05-02T02:28:59Z</dcterms:modified>
  <cp:category/>
</cp:coreProperties>
</file>